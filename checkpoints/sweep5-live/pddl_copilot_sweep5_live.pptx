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prec=TP/(TP+FP), rec=TP/(TP+FN), acc=(TP+TN)/all trials including no-ans.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prec=TP/(TP+FP), rec=TP/(TP+FN), acc=(TP+TN)/all trials including no-ans.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/>
              <a:t>PDDL Copilot — sweep-5 LIVE (in-flight, v11-v16 active prompts)</a:t>
            </a:r>
          </a:p>
          <a:p>
            <a:pPr algn="ctr"/>
            <a:r>
              <a:rPr sz="1800">
                <a:solidFill>
                  <a:srgbClr val="555555"/>
                </a:solidFill>
              </a:rPr>
              <a:t>Qwen3.5:0.8B / 4B / 9B · gemma4:26b-a4b · qwen3.6:35b · sweep-5 active arms: neutral v11-v13 + steered v14-v16 · all-tools vs no-tools · think on/off · PRELIMINARY — partial cells (min-out 100 trials); missing bars = cell not yet at threshold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Success rates: by arm (think=off)</a:t>
            </a:r>
          </a:p>
        </p:txBody>
      </p:sp>
      <p:pic>
        <p:nvPicPr>
          <p:cNvPr id="3" name="Picture 2" descr="success_by_arm_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89" y="685800"/>
            <a:ext cx="10160315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72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PRELIMINARY view: per-task success on partial sweep-5 cells (v11-v16, min-out 100). Missing bars = cell not yet at threshold. As of this rebuild, qwen3_6_35b and the smaller Qwen3.5 sizes have the most coverage; gemma4 no-tools cells lag.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Success rates: by arm (think=on)</a:t>
            </a:r>
          </a:p>
        </p:txBody>
      </p:sp>
      <p:pic>
        <p:nvPicPr>
          <p:cNvPr id="3" name="Picture 2" descr="success_by_arm_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89" y="685800"/>
            <a:ext cx="10160315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72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Same chart, think=on. Note Qwen3.5-0.8B on/no-tools is dominated by truncated_no_answer (reasoning consumes the entire output budget). gemma4 on/no-tools is below the min-out threshold so has no bar.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H1 — tool utility (byte-identical prompts)</a:t>
            </a:r>
          </a:p>
        </p:txBody>
      </p:sp>
      <p:pic>
        <p:nvPicPr>
          <p:cNvPr id="3" name="Picture 2" descr="h1_is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414" y="685800"/>
            <a:ext cx="8968865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72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H1 — tool utility at byte-identical prompt content. Grey = no-tools (neut), blue = with-tools (neut). The (blue − grey) gap is the headline tool-utility claim from arXiv:2509.12987 under sweep-5's controlled comparison (same prompt text on both sides).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H2 — steering effect on tool selection</a:t>
            </a:r>
          </a:p>
        </p:txBody>
      </p:sp>
      <p:pic>
        <p:nvPicPr>
          <p:cNvPr id="3" name="Picture 2" descr="h2_is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326" y="685800"/>
            <a:ext cx="8977041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72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H2 — steering effect on tool selection. Blue = with-tools (neut), orange = with-tools (steered). Bar height = tool_selected%. `wt:NN%` annotation above each bar = FR_WRONG_TOOL share (marketplace 1.4.0 distinguishes wrong-tool from no-tool-call). H2 predicts blue → orange raises selection AND lowers wt%.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Tool selection rate per task — by arm</a:t>
            </a:r>
          </a:p>
        </p:txBody>
      </p:sp>
      <p:pic>
        <p:nvPicPr>
          <p:cNvPr id="3" name="Picture 2" descr="tool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413" y="685800"/>
            <a:ext cx="5394868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72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% of with-tools trials where the model invoked the expected planner/validator tool, over v11-v16 partial cells.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Failure-reason breakdown per task (think=off)</a:t>
            </a:r>
          </a:p>
        </p:txBody>
      </p:sp>
      <p:pic>
        <p:nvPicPr>
          <p:cNvPr id="3" name="Picture 2" descr="failure_breakdown_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51" y="685800"/>
            <a:ext cx="10523392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72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100%-stacked share of failure reasons per (model × arm × task) at think=off. verdict_mismatch and format_parse_fail dominate; truncated_no_answer present on the few rows that did hit the output cap. think_overflow is empty by gate — only think=on rows can carry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Failure-reason breakdown per task (think=on)</a:t>
            </a:r>
          </a:p>
        </p:txBody>
      </p:sp>
      <p:pic>
        <p:nvPicPr>
          <p:cNvPr id="3" name="Picture 2" descr="failure_breakdown_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51" y="685800"/>
            <a:ext cx="10523392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72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Same chart at think=on. The light-pink think_overflow slab is the 2026-05-25 read-time relabel: rows where the model exhausted the output budget without emitting a visible response (vLLM qwen3 reasoning-parser eats partial `&lt;think&gt;` content on length-truncation). Qwen3.5 sizes are dominated by think_overflow on no-tools tasks; gemma4 (no reasoning parser) stays on truncated_no_answer because its response field is non-empty.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Validation tasks · no-tools · confusion matrices (think=off)</a:t>
            </a:r>
          </a:p>
        </p:txBody>
      </p:sp>
      <p:pic>
        <p:nvPicPr>
          <p:cNvPr id="3" name="Picture 2" descr="confusion_no_tools_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179" y="685800"/>
            <a:ext cx="3553336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72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One row per model; columns = validate_domain, validate_problem, validate_plan. TP = correctly predicted VALID, TN = correctly predicted INVALID. 'no-ans' counts truncated / parse-fail trials excluded from prec/rec/acc.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Validation tasks · no-tools · confusion matrices (think=on)</a:t>
            </a:r>
          </a:p>
        </p:txBody>
      </p:sp>
      <p:pic>
        <p:nvPicPr>
          <p:cNvPr id="3" name="Picture 2" descr="confusion_no_tools_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331" y="685800"/>
            <a:ext cx="3565031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72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think=on bloats output budget — note the no-ans count: at this corpus the entire response is reasoning text with no JSON verdict (truncated_no_answer + format_parse_fail dominate).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Validation-task metrics · no-tools · think=off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047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288"/>
                <a:gridCol w="1161288"/>
                <a:gridCol w="1161288"/>
                <a:gridCol w="1161288"/>
                <a:gridCol w="1161288"/>
                <a:gridCol w="1161288"/>
                <a:gridCol w="1161288"/>
                <a:gridCol w="1161288"/>
                <a:gridCol w="1161288"/>
                <a:gridCol w="1161288"/>
              </a:tblGrid>
              <a:tr h="3154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3355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3355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TP</a:t>
                      </a:r>
                    </a:p>
                  </a:txBody>
                  <a:tcPr>
                    <a:solidFill>
                      <a:srgbClr val="3355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FP</a:t>
                      </a:r>
                    </a:p>
                  </a:txBody>
                  <a:tcPr>
                    <a:solidFill>
                      <a:srgbClr val="3355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FN</a:t>
                      </a:r>
                    </a:p>
                  </a:txBody>
                  <a:tcPr>
                    <a:solidFill>
                      <a:srgbClr val="3355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TN</a:t>
                      </a:r>
                    </a:p>
                  </a:txBody>
                  <a:tcPr>
                    <a:solidFill>
                      <a:srgbClr val="3355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no-ans</a:t>
                      </a:r>
                    </a:p>
                  </a:txBody>
                  <a:tcPr>
                    <a:solidFill>
                      <a:srgbClr val="3355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prec</a:t>
                      </a:r>
                    </a:p>
                  </a:txBody>
                  <a:tcPr>
                    <a:solidFill>
                      <a:srgbClr val="3355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rec</a:t>
                      </a:r>
                    </a:p>
                  </a:txBody>
                  <a:tcPr>
                    <a:solidFill>
                      <a:srgbClr val="3355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acc</a:t>
                      </a:r>
                    </a:p>
                  </a:txBody>
                  <a:tcPr>
                    <a:solidFill>
                      <a:srgbClr val="33558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Qwen3.5-0.8B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0.81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Qwen3.5-0.8B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val-prob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0.51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Qwen3.5-0.8B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1468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0.50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Qwen3.5-4B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0.19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Qwen3.5-4B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val-prob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0.56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Qwen3.5-4B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0.74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Qwen3.5-9B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0.26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Qwen3.5-9B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val-prob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0.66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Qwen3.5-9B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0.80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Gemma4-26B-A4B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0.78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Gemma4-26B-A4B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val-prob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0.75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Gemma4-26B-A4B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0.88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Qwen3.6-35B-A3B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0.68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Qwen3.6-35B-A3B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val-prob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0.76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Qwen3.6-35B-A3B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Validation-task metrics · no-tools · think=on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047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288"/>
                <a:gridCol w="1161288"/>
                <a:gridCol w="1161288"/>
                <a:gridCol w="1161288"/>
                <a:gridCol w="1161288"/>
                <a:gridCol w="1161288"/>
                <a:gridCol w="1161288"/>
                <a:gridCol w="1161288"/>
                <a:gridCol w="1161288"/>
                <a:gridCol w="1161288"/>
              </a:tblGrid>
              <a:tr h="3154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3355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3355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TP</a:t>
                      </a:r>
                    </a:p>
                  </a:txBody>
                  <a:tcPr>
                    <a:solidFill>
                      <a:srgbClr val="3355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FP</a:t>
                      </a:r>
                    </a:p>
                  </a:txBody>
                  <a:tcPr>
                    <a:solidFill>
                      <a:srgbClr val="3355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FN</a:t>
                      </a:r>
                    </a:p>
                  </a:txBody>
                  <a:tcPr>
                    <a:solidFill>
                      <a:srgbClr val="3355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TN</a:t>
                      </a:r>
                    </a:p>
                  </a:txBody>
                  <a:tcPr>
                    <a:solidFill>
                      <a:srgbClr val="3355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no-ans</a:t>
                      </a:r>
                    </a:p>
                  </a:txBody>
                  <a:tcPr>
                    <a:solidFill>
                      <a:srgbClr val="3355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prec</a:t>
                      </a:r>
                    </a:p>
                  </a:txBody>
                  <a:tcPr>
                    <a:solidFill>
                      <a:srgbClr val="3355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rec</a:t>
                      </a:r>
                    </a:p>
                  </a:txBody>
                  <a:tcPr>
                    <a:solidFill>
                      <a:srgbClr val="3355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acc</a:t>
                      </a:r>
                    </a:p>
                  </a:txBody>
                  <a:tcPr>
                    <a:solidFill>
                      <a:srgbClr val="33558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Qwen3.5-0.8B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0.00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Qwen3.5-0.8B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val-prob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0.00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Qwen3.5-0.8B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0.00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Qwen3.5-4B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0.01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Qwen3.5-4B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val-prob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0.12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Qwen3.5-4B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0.17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Qwen3.5-9B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0.03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Qwen3.5-9B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val-prob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0.17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Qwen3.5-9B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0.14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Gemma4-26B-A4B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0.00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Gemma4-26B-A4B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val-prob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0.04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Gemma4-26B-A4B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—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Qwen3.6-35B-A3B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0.73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Qwen3.6-35B-A3B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val-prob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0.78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rPr sz="900"/>
                        <a:t>Qwen3.6-35B-A3B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val-plan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1307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Simulate · no-tools · failure proofs (think=off) — raw model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548640"/>
            <a:ext cx="11731752" cy="329184"/>
          </a:xfrm>
          <a:prstGeom prst="rect">
            <a:avLst/>
          </a:prstGeom>
          <a:solidFill>
            <a:srgbClr val="33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/>
          <a:lstStyle/>
          <a:p>
            <a:r>
              <a:rPr b="1" sz="1100">
                <a:solidFill>
                  <a:srgbClr val="FFFFFF"/>
                </a:solidFill>
              </a:rPr>
              <a:t>Qwen3.5-0.8B  ·  failure_reason = format_parse_fail  (234/300 simulate trials, 78%)  ·  sailing/p01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896112"/>
            <a:ext cx="11731752" cy="850392"/>
          </a:xfrm>
          <a:prstGeom prst="rect">
            <a:avLst/>
          </a:prstGeom>
          <a:solidFill>
            <a:srgbClr val="F6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r>
              <a:rPr sz="1000">
                <a:solidFill>
                  <a:srgbClr val="111122"/>
                </a:solidFill>
                <a:latin typeface="Menlo"/>
              </a:rPr>
              <a:t>{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"step": 0,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"action": "",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"state": {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  "boolean": [],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  "numeric": {}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}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783080"/>
            <a:ext cx="11731752" cy="329184"/>
          </a:xfrm>
          <a:prstGeom prst="rect">
            <a:avLst/>
          </a:prstGeom>
          <a:solidFill>
            <a:srgbClr val="33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/>
          <a:lstStyle/>
          <a:p>
            <a:r>
              <a:rPr b="1" sz="1100">
                <a:solidFill>
                  <a:srgbClr val="FFFFFF"/>
                </a:solidFill>
              </a:rPr>
              <a:t>Qwen3.5-4B  ·  failure_reason = format_parse_fail  (176/300 simulate trials, 59%)  ·  barman/p01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2130552"/>
            <a:ext cx="11731752" cy="850392"/>
          </a:xfrm>
          <a:prstGeom prst="rect">
            <a:avLst/>
          </a:prstGeom>
          <a:solidFill>
            <a:srgbClr val="F6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r>
              <a:rPr sz="1000">
                <a:solidFill>
                  <a:srgbClr val="111122"/>
                </a:solidFill>
                <a:latin typeface="Menlo"/>
              </a:rPr>
              <a:t>Here is the step-by-step state trace for the given PDDL plan.</a:t>
            </a:r>
          </a:p>
          <a:p/>
          <a:p>
            <a:r>
              <a:rPr sz="1000">
                <a:solidFill>
                  <a:srgbClr val="111122"/>
                </a:solidFill>
                <a:latin typeface="Menlo"/>
              </a:rPr>
              <a:t>### Step 0: Initial State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**Action:** (empty)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**State:**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- **Booleans:**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- `(ontable shaker1)`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- `(ontable shot1)`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... [+14 more lines]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3017520"/>
            <a:ext cx="11731752" cy="329184"/>
          </a:xfrm>
          <a:prstGeom prst="rect">
            <a:avLst/>
          </a:prstGeom>
          <a:solidFill>
            <a:srgbClr val="33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/>
          <a:lstStyle/>
          <a:p>
            <a:r>
              <a:rPr b="1" sz="1100">
                <a:solidFill>
                  <a:srgbClr val="FFFFFF"/>
                </a:solidFill>
              </a:rPr>
              <a:t>Qwen3.5-9B  ·  failure_reason = format_parse_fail  (174/285 simulate trials, 61%)  ·  miconic/p01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3364992"/>
            <a:ext cx="11731752" cy="850392"/>
          </a:xfrm>
          <a:prstGeom prst="rect">
            <a:avLst/>
          </a:prstGeom>
          <a:solidFill>
            <a:srgbClr val="F6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r>
              <a:rPr sz="1000">
                <a:solidFill>
                  <a:srgbClr val="111122"/>
                </a:solidFill>
                <a:latin typeface="Menlo"/>
              </a:rPr>
              <a:t>{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"step": 0,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"action": "",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"state": {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  "boolean": [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    "(above f0 f1)",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    "(origin p0 f0)",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    "(destin p0 f1)",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... [+5 more lines]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4251960"/>
            <a:ext cx="11731752" cy="329184"/>
          </a:xfrm>
          <a:prstGeom prst="rect">
            <a:avLst/>
          </a:prstGeom>
          <a:solidFill>
            <a:srgbClr val="33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/>
          <a:lstStyle/>
          <a:p>
            <a:r>
              <a:rPr b="1" sz="1100">
                <a:solidFill>
                  <a:srgbClr val="FFFFFF"/>
                </a:solidFill>
              </a:rPr>
              <a:t>Gemma4-26B-A4B  ·  failure_reason = format_parse_fail  (216/300 simulate trials, 72%)  ·  barman/p02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4599432"/>
            <a:ext cx="11731752" cy="850392"/>
          </a:xfrm>
          <a:prstGeom prst="rect">
            <a:avLst/>
          </a:prstGeom>
          <a:solidFill>
            <a:srgbClr val="F6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r>
              <a:rPr sz="1000">
                <a:solidFill>
                  <a:srgbClr val="111122"/>
                </a:solidFill>
                <a:latin typeface="Menlo"/>
              </a:rPr>
              <a:t>```json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[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{"step": 0, "action": "", "state": {"boolean": ["(ontable shaker1)", "(ontable shot1)", "(ontable shot2)", "(dispenses dispenser1 ingredient1)", "(dispenses dispenser2 ingredient2)", "(clean shaker1)", "(clean shot1)", "(clean shot2)", "(empty shaker1)", "(empty shot1)", "(empty shot2)", "(handempty left)", "(handempty right)", "(shaker_empty_level shaker1 l0)", "(shaker_level shaker1 l0)", "(next l0 l1)", "(next l1 l2)", "(cocktail_part1 cocktail1 ingredient2)", "(cocktail_part2 coc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5486400"/>
            <a:ext cx="11731752" cy="329184"/>
          </a:xfrm>
          <a:prstGeom prst="rect">
            <a:avLst/>
          </a:prstGeom>
          <a:solidFill>
            <a:srgbClr val="33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/>
          <a:lstStyle/>
          <a:p>
            <a:r>
              <a:rPr b="1" sz="1100">
                <a:solidFill>
                  <a:srgbClr val="FFFFFF"/>
                </a:solidFill>
              </a:rPr>
              <a:t>Qwen3.6-35B-A3B  ·  failure_reason = format_parse_fail  (208/300 simulate trials, 69%)  ·  sailing/p05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5833872"/>
            <a:ext cx="11731752" cy="850392"/>
          </a:xfrm>
          <a:prstGeom prst="rect">
            <a:avLst/>
          </a:prstGeom>
          <a:solidFill>
            <a:srgbClr val="F6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r>
              <a:rPr sz="1000">
                <a:solidFill>
                  <a:srgbClr val="111122"/>
                </a:solidFill>
                <a:latin typeface="Menlo"/>
              </a:rPr>
              <a:t>{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"step": 0,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"action": "",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"state": {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  "boolean": [],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  "numeric": {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    "(x b0)": 4,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      "(y b0)": 0,</a:t>
            </a:r>
          </a:p>
          <a:p>
            <a:r>
              <a:rPr sz="1000">
                <a:solidFill>
                  <a:srgbClr val="111122"/>
                </a:solidFill>
                <a:latin typeface="Menlo"/>
              </a:rPr>
              <a:t>... [+5 more lines]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Simulate · no-tools · failure proofs (think=on) — raw model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548640"/>
            <a:ext cx="11731752" cy="329184"/>
          </a:xfrm>
          <a:prstGeom prst="rect">
            <a:avLst/>
          </a:prstGeom>
          <a:solidFill>
            <a:srgbClr val="33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/>
          <a:lstStyle/>
          <a:p>
            <a:r>
              <a:rPr b="1" sz="1100">
                <a:solidFill>
                  <a:srgbClr val="FFFFFF"/>
                </a:solidFill>
              </a:rPr>
              <a:t>Qwen3.5-0.8B  ·  failure_reason = think_overflow  (293/300 simulate trials, 98%)  ·  barman/p01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896112"/>
            <a:ext cx="11731752" cy="850392"/>
          </a:xfrm>
          <a:prstGeom prst="rect">
            <a:avLst/>
          </a:prstGeom>
          <a:solidFill>
            <a:srgbClr val="F6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r>
              <a:rPr sz="1000">
                <a:solidFill>
                  <a:srgbClr val="111122"/>
                </a:solidFill>
                <a:latin typeface="Menlo"/>
              </a:rPr>
              <a:t>(empty response)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783080"/>
            <a:ext cx="11731752" cy="329184"/>
          </a:xfrm>
          <a:prstGeom prst="rect">
            <a:avLst/>
          </a:prstGeom>
          <a:solidFill>
            <a:srgbClr val="33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/>
          <a:lstStyle/>
          <a:p>
            <a:r>
              <a:rPr b="1" sz="1100">
                <a:solidFill>
                  <a:srgbClr val="FFFFFF"/>
                </a:solidFill>
              </a:rPr>
              <a:t>Qwen3.5-4B · no simulate trials in this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2130552"/>
            <a:ext cx="11731752" cy="850392"/>
          </a:xfrm>
          <a:prstGeom prst="rect">
            <a:avLst/>
          </a:prstGeom>
          <a:solidFill>
            <a:srgbClr val="F6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r>
              <a:rPr sz="1100">
                <a:solidFill>
                  <a:srgbClr val="888888"/>
                </a:solidFill>
              </a:rPr>
              <a:t>(no simulate trials)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3017520"/>
            <a:ext cx="11731752" cy="329184"/>
          </a:xfrm>
          <a:prstGeom prst="rect">
            <a:avLst/>
          </a:prstGeom>
          <a:solidFill>
            <a:srgbClr val="33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/>
          <a:lstStyle/>
          <a:p>
            <a:r>
              <a:rPr b="1" sz="1100">
                <a:solidFill>
                  <a:srgbClr val="FFFFFF"/>
                </a:solidFill>
              </a:rPr>
              <a:t>Qwen3.5-9B · no simulate trials in this cell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3364992"/>
            <a:ext cx="11731752" cy="850392"/>
          </a:xfrm>
          <a:prstGeom prst="rect">
            <a:avLst/>
          </a:prstGeom>
          <a:solidFill>
            <a:srgbClr val="F6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r>
              <a:rPr sz="1100">
                <a:solidFill>
                  <a:srgbClr val="888888"/>
                </a:solidFill>
              </a:rPr>
              <a:t>(no simulate trials)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4251960"/>
            <a:ext cx="11731752" cy="329184"/>
          </a:xfrm>
          <a:prstGeom prst="rect">
            <a:avLst/>
          </a:prstGeom>
          <a:solidFill>
            <a:srgbClr val="33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/>
          <a:lstStyle/>
          <a:p>
            <a:r>
              <a:rPr b="1" sz="1100">
                <a:solidFill>
                  <a:srgbClr val="FFFFFF"/>
                </a:solidFill>
              </a:rPr>
              <a:t>Gemma4-26B-A4B · no simulate trials in this cell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4599432"/>
            <a:ext cx="11731752" cy="850392"/>
          </a:xfrm>
          <a:prstGeom prst="rect">
            <a:avLst/>
          </a:prstGeom>
          <a:solidFill>
            <a:srgbClr val="F6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r>
              <a:rPr sz="1100">
                <a:solidFill>
                  <a:srgbClr val="888888"/>
                </a:solidFill>
              </a:rPr>
              <a:t>(no simulate trials)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5486400"/>
            <a:ext cx="11731752" cy="329184"/>
          </a:xfrm>
          <a:prstGeom prst="rect">
            <a:avLst/>
          </a:prstGeom>
          <a:solidFill>
            <a:srgbClr val="33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/>
          <a:lstStyle/>
          <a:p>
            <a:r>
              <a:rPr b="1" sz="1100">
                <a:solidFill>
                  <a:srgbClr val="FFFFFF"/>
                </a:solidFill>
              </a:rPr>
              <a:t>Qwen3.6-35B-A3B  ·  failure_reason = think_overflow  (146/300 simulate trials, 49%)  ·  barman/p01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5833872"/>
            <a:ext cx="11731752" cy="850392"/>
          </a:xfrm>
          <a:prstGeom prst="rect">
            <a:avLst/>
          </a:prstGeom>
          <a:solidFill>
            <a:srgbClr val="F6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r>
              <a:rPr sz="1000">
                <a:solidFill>
                  <a:srgbClr val="111122"/>
                </a:solidFill>
                <a:latin typeface="Menlo"/>
              </a:rPr>
              <a:t>(empty response)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Note on token accounting (output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• This section reports OUTPUT (completion) tokens only.  Input tokens are dropped from the deck (2026-05-24): the 2-turn with-tools input premium is structural and not informative for arm comparison.</a:t>
            </a:r>
          </a:p>
          <a:p>
            <a:r>
              <a:rPr sz="1400"/>
              <a:t>• Output tokens = vLLM `completion_tokens` per trial.  A `trial` = one harness call for one (model, task, problem, prompt-variant).  For with-tools trials the harness runs a 2-turn agent loop; the per-trial output is SUMMED across both turns (pddl_eval/chat.py).</a:t>
            </a:r>
          </a:p>
          <a:p>
            <a:r>
              <a:rPr sz="1400"/>
              <a:t>• Each bar carries TWO numbers: the mean (the bar height) and the median (the `(m:NN)` parenthetical).  The median is robust to truncation outliers — preferred when one model truncates heavily and another doesn't.</a:t>
            </a:r>
          </a:p>
          <a:p>
            <a:r>
              <a:rPr sz="1400"/>
              <a:t>• Bar-internal label `f:NN%` is the cell failure% so expensive cells with low utility surface visibly.</a:t>
            </a:r>
          </a:p>
          <a:p>
            <a:r>
              <a:rPr sz="1400"/>
              <a:t>• Sweep-5 H3 predicts with-tools &lt; no-tools on per-successful-trial output tokens (the tool short-circuits long reasoning).  Compare tl-* arms against nt-* arms at the same model × think.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Output tokens · solve</a:t>
            </a:r>
          </a:p>
        </p:txBody>
      </p:sp>
      <p:pic>
        <p:nvPicPr>
          <p:cNvPr id="3" name="Picture 2" descr="tokens_task_sol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685800"/>
            <a:ext cx="11612880" cy="36124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72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Output tokens per `solve` trial. Bar label = mean (m:median).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Output tokens · val-dom</a:t>
            </a:r>
          </a:p>
        </p:txBody>
      </p:sp>
      <p:pic>
        <p:nvPicPr>
          <p:cNvPr id="3" name="Picture 2" descr="tokens_task_validate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685800"/>
            <a:ext cx="11612880" cy="36124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72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Output tokens per `validate_domain` trial. Bar label = mean (m:median).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Output tokens · val-prob</a:t>
            </a:r>
          </a:p>
        </p:txBody>
      </p:sp>
      <p:pic>
        <p:nvPicPr>
          <p:cNvPr id="3" name="Picture 2" descr="tokens_task_validate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685800"/>
            <a:ext cx="11612880" cy="36124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72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Output tokens per `validate_problem` trial. Bar label = mean (m:median).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Output tokens · val-plan</a:t>
            </a:r>
          </a:p>
        </p:txBody>
      </p:sp>
      <p:pic>
        <p:nvPicPr>
          <p:cNvPr id="3" name="Picture 2" descr="tokens_task_validate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685800"/>
            <a:ext cx="11612880" cy="36124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72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Output tokens per `validate_plan` trial. Bar label = mean (m:median).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Output tokens · simulate</a:t>
            </a:r>
          </a:p>
        </p:txBody>
      </p:sp>
      <p:pic>
        <p:nvPicPr>
          <p:cNvPr id="3" name="Picture 2" descr="tokens_task_simu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685800"/>
            <a:ext cx="11612880" cy="36124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72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Output tokens per `simulate` trial. Bar label = mean (m:median). Long step-by-step traces drive output; no-tools failure% is ~100% across the board.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Output tokens vs success · solve</a:t>
            </a:r>
          </a:p>
        </p:txBody>
      </p:sp>
      <p:pic>
        <p:nvPicPr>
          <p:cNvPr id="3" name="Picture 2" descr="tokens_vs_success_sol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685800"/>
            <a:ext cx="11612880" cy="4261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72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Per-cell scatter for `solve`. Each marker = one (model, arm) cell; x = median completion tokens, y = success% with Wilson 95% CI. Lines connect the same model across arms — reads H3 directly: moving along the line from nt-* (circle/diamond) to tl-* (square/triangle) should drop x AND raise y if tools help.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Output tokens vs success · val-dom</a:t>
            </a:r>
          </a:p>
        </p:txBody>
      </p:sp>
      <p:pic>
        <p:nvPicPr>
          <p:cNvPr id="3" name="Picture 2" descr="tokens_vs_success_validate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685800"/>
            <a:ext cx="11612880" cy="40203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72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Per-cell scatter for `validate_domain`. Same axes/encoding as solve. Note the y range collapses here — most no-tools cells sit at 0–10% success and most with-tools cells sit at 60–95%, with token-budget consumption varying across models more than across arms.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Output tokens vs success · val-prob</a:t>
            </a:r>
          </a:p>
        </p:txBody>
      </p:sp>
      <p:pic>
        <p:nvPicPr>
          <p:cNvPr id="3" name="Picture 2" descr="tokens_vs_success_validate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685800"/>
            <a:ext cx="11612880" cy="40041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72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Per-cell scatter for `validate_problem`. Look for arms whose marker moves LEFT (fewer tokens) AND UP (more success) — this is the H3 win quadrant.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Output tokens vs success · val-plan</a:t>
            </a:r>
          </a:p>
        </p:txBody>
      </p:sp>
      <p:pic>
        <p:nvPicPr>
          <p:cNvPr id="3" name="Picture 2" descr="tokens_vs_success_validate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685800"/>
            <a:ext cx="11612880" cy="4085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72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Per-cell scatter for `validate_plan`. Same axes/encoding.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Output tokens vs success · simulate</a:t>
            </a:r>
          </a:p>
        </p:txBody>
      </p:sp>
      <p:pic>
        <p:nvPicPr>
          <p:cNvPr id="3" name="Picture 2" descr="tokens_vs_success_simu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685800"/>
            <a:ext cx="11612880" cy="4185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72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Per-cell scatter for `simulate`. The most expensive task per output-token budget; no-tools cells often sit at ~0% across the board (long step-by-step traces). The tools-arm step-down on x is the simulate-tool short-circuit.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