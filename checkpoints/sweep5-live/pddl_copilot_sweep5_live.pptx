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prec=TP/(TP+FP), rec=TP/(TP+FN), acc=(TP+TN)/all trials including no-ans.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prec=TP/(TP+FP), rec=TP/(TP+FN), acc=(TP+TN)/all trials including no-ans.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prec=TP/(TP+FP), rec=TP/(TP+FN), acc=(TP+TN)/all trials including no-ans.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prec=TP/(TP+FP), rec=TP/(TP+FN), acc=(TP+TN)/all trials including no-ans.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/>
              <a:t>PDDL Copilot — sweep-5 LIVE (in-flight, v11-v16 active prompts)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Qwen3.5:0.8B / 4B / 9B · gemma4:26b-a4b · qwen3.6:35b · sweep-5 active arms: neutral v11-v13 + steered v14-v16 · all-tools vs no-tools · think on/off · PRELIMINARY — partial cells (min-out 100 trials); missing bars = cell not yet at threshold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Success rates: by arm (think=off)</a:t>
            </a:r>
          </a:p>
        </p:txBody>
      </p:sp>
      <p:pic>
        <p:nvPicPr>
          <p:cNvPr id="3" name="Picture 2" descr="success_by_arm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689" y="685800"/>
            <a:ext cx="1016031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PRELIMINARY view: per-task success on partial sweep-5 cells (v11-v16, min-out 100). Missing bars = cell not yet at threshold. As of this rebuild, qwen3_6_35b and the smaller Qwen3.5 sizes have the most coverage; gemma4 no-tools cells lag.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Success rates: by arm (think=on)</a:t>
            </a:r>
          </a:p>
        </p:txBody>
      </p:sp>
      <p:pic>
        <p:nvPicPr>
          <p:cNvPr id="3" name="Picture 2" descr="success_by_arm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689" y="685800"/>
            <a:ext cx="1016031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Same chart, think=on. Note Qwen3.5-0.8B on/no-tools is dominated by truncated_no_answer (reasoning consumes the entire output budget). gemma4 on/no-tools is below the min-out threshold so has no bar.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H1 — tool utility (byte-identical prompts)</a:t>
            </a:r>
          </a:p>
        </p:txBody>
      </p:sp>
      <p:pic>
        <p:nvPicPr>
          <p:cNvPr id="3" name="Picture 2" descr="h1_is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414" y="685800"/>
            <a:ext cx="896886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H1 — tool utility at byte-identical prompt content. Grey = no-tools (neut), blue = with-tools (neut). The (blue − grey) gap is the headline tool-utility claim from arXiv:2509.12987 under sweep-5's controlled comparison (same prompt text on both sides).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H2 — steering effect on tool selection · Qwen3.5-0.8B</a:t>
            </a:r>
          </a:p>
        </p:txBody>
      </p:sp>
      <p:pic>
        <p:nvPicPr>
          <p:cNvPr id="3" name="Picture 2" descr="h2_isolation_Qwen3_5_0_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326" y="685800"/>
            <a:ext cx="897704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H2 — steering effect on tool selection, isolated to this model. Blue = with-tools (neut), orange = with-tools (steered). Bar height = tool_selected%; black label above bar = selection mean. H2 predicts blue → orange raises selection. Per-model slides — H2 is a within-model claim (does steering shift *this* model's selection), so each model stands alone rather than competing on a shared axis. FR_WRONG_TOOL share is 0% across this sweep (marketplace 1.4.0 classifier separates no-tool-call from wrong-tool) so its inset was dropped from the bars.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H2 — steering effect on tool selection · Qwen3.5-4B</a:t>
            </a:r>
          </a:p>
        </p:txBody>
      </p:sp>
      <p:pic>
        <p:nvPicPr>
          <p:cNvPr id="3" name="Picture 2" descr="h2_isolation_Qwen3_5_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326" y="685800"/>
            <a:ext cx="897704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H2 — steering effect on tool selection, isolated to this model. Blue = with-tools (neut), orange = with-tools (steered). Bar height = tool_selected%; black label above bar = selection mean. H2 predicts blue → orange raises selection. Per-model slides — H2 is a within-model claim (does steering shift *this* model's selection), so each model stands alone rather than competing on a shared axis. FR_WRONG_TOOL share is 0% across this sweep (marketplace 1.4.0 classifier separates no-tool-call from wrong-tool) so its inset was dropped from the bars.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H2 — steering effect on tool selection · Qwen3.5-9B</a:t>
            </a:r>
          </a:p>
        </p:txBody>
      </p:sp>
      <p:pic>
        <p:nvPicPr>
          <p:cNvPr id="3" name="Picture 2" descr="h2_isolation_Qwen3_5_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326" y="685800"/>
            <a:ext cx="897704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H2 — steering effect on tool selection, isolated to this model. Blue = with-tools (neut), orange = with-tools (steered). Bar height = tool_selected%; black label above bar = selection mean. H2 predicts blue → orange raises selection. Per-model slides — H2 is a within-model claim (does steering shift *this* model's selection), so each model stands alone rather than competing on a shared axis. FR_WRONG_TOOL share is 0% across this sweep (marketplace 1.4.0 classifier separates no-tool-call from wrong-tool) so its inset was dropped from the bars.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H2 — steering effect on tool selection · Gemma4-26B-A4B</a:t>
            </a:r>
          </a:p>
        </p:txBody>
      </p:sp>
      <p:pic>
        <p:nvPicPr>
          <p:cNvPr id="3" name="Picture 2" descr="h2_isolation_gemma4_26b-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326" y="685800"/>
            <a:ext cx="897704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H2 — steering effect on tool selection, isolated to this model. Blue = with-tools (neut), orange = with-tools (steered). Bar height = tool_selected%; black label above bar = selection mean. H2 predicts blue → orange raises selection. Per-model slides — H2 is a within-model claim (does steering shift *this* model's selection), so each model stands alone rather than competing on a shared axis. FR_WRONG_TOOL share is 0% across this sweep (marketplace 1.4.0 classifier separates no-tool-call from wrong-tool) so its inset was dropped from the bars.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H2 — steering effect on tool selection · Qwen3.6-35B-A3B</a:t>
            </a:r>
          </a:p>
        </p:txBody>
      </p:sp>
      <p:pic>
        <p:nvPicPr>
          <p:cNvPr id="3" name="Picture 2" descr="h2_isolation_qwen3_6_3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326" y="685800"/>
            <a:ext cx="897704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H2 — steering effect on tool selection, isolated to this model. Blue = with-tools (neut), orange = with-tools (steered). Bar height = tool_selected%; black label above bar = selection mean. H2 predicts blue → orange raises selection. Per-model slides — H2 is a within-model claim (does steering shift *this* model's selection), so each model stands alone rather than competing on a shared axis. FR_WRONG_TOOL share is 0% across this sweep (marketplace 1.4.0 classifier separates no-tool-call from wrong-tool) so its inset was dropped from the bars.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Tool selection rate per task — by arm</a:t>
            </a:r>
          </a:p>
        </p:txBody>
      </p:sp>
      <p:pic>
        <p:nvPicPr>
          <p:cNvPr id="3" name="Picture 2" descr="tool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413" y="685800"/>
            <a:ext cx="5394868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% of with-tools trials where the model invoked the expected planner/validator tool, over v11-v16 partial cells.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Failure-reason breakdown per task (think=off)</a:t>
            </a:r>
          </a:p>
        </p:txBody>
      </p:sp>
      <p:pic>
        <p:nvPicPr>
          <p:cNvPr id="3" name="Picture 2" descr="failure_breakdow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1" y="685800"/>
            <a:ext cx="10523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100%-stacked share of failure reasons per (model × arm × task) at think=off. verdict_mismatch and format_parse_fail dominate; truncated_no_answer present on the few rows that did hit the output cap. think_overflow is empty by gate — only think=on rows can carry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Failure-reason breakdown per task (think=on)</a:t>
            </a:r>
          </a:p>
        </p:txBody>
      </p:sp>
      <p:pic>
        <p:nvPicPr>
          <p:cNvPr id="3" name="Picture 2" descr="failure_breakdown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1" y="685800"/>
            <a:ext cx="10523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Same chart at think=on. The light-pink think_overflow slab is the 2026-05-25 read-time relabel: rows where the model exhausted the output budget without emitting a visible response (vLLM qwen3 reasoning-parser eats partial `&lt;think&gt;` content on length-truncation). Qwen3.5 sizes are dominated by think_overflow on no-tools tasks; gemma4 (no reasoning parser) stays on truncated_no_answer because its response field is non-empty.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Qwen3.5-0.8B · think=off</a:t>
            </a:r>
          </a:p>
        </p:txBody>
      </p:sp>
      <p:pic>
        <p:nvPicPr>
          <p:cNvPr id="3" name="Picture 2" descr="confusion_Qwen3_5_0_8B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51" y="685800"/>
            <a:ext cx="8232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One row per model; columns = validate_domain, validate_problem, validate_plan. TP = correctly predicted VALID, TN = correctly predicted INVALID. 'no-ans' counts truncated / parse-fail trials excluded from prec/rec/acc.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Qwen3.5-4B · think=off</a:t>
            </a:r>
          </a:p>
        </p:txBody>
      </p:sp>
      <p:pic>
        <p:nvPicPr>
          <p:cNvPr id="3" name="Picture 2" descr="confusion_Qwen3_5_4B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855" y="685800"/>
            <a:ext cx="8211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One row per model; columns = validate_domain, validate_problem, validate_plan. TP = correctly predicted VALID, TN = correctly predicted INVALID. 'no-ans' counts truncated / parse-fail trials excluded from prec/rec/acc.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Qwen3.5-9B · think=off</a:t>
            </a:r>
          </a:p>
        </p:txBody>
      </p:sp>
      <p:pic>
        <p:nvPicPr>
          <p:cNvPr id="3" name="Picture 2" descr="confusion_Qwen3_5_9B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36" y="685800"/>
            <a:ext cx="8203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One row per model; columns = validate_domain, validate_problem, validate_plan. TP = correctly predicted VALID, TN = correctly predicted INVALID. 'no-ans' counts truncated / parse-fail trials excluded from prec/rec/acc.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Gemma4-26B-A4B · think=off</a:t>
            </a:r>
          </a:p>
        </p:txBody>
      </p:sp>
      <p:pic>
        <p:nvPicPr>
          <p:cNvPr id="3" name="Picture 2" descr="confusion_gemma4_26b-a4b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814" y="685800"/>
            <a:ext cx="8216066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One row per model; columns = validate_domain, validate_problem, validate_plan. TP = correctly predicted VALID, TN = correctly predicted INVALID. 'no-ans' counts truncated / parse-fail trials excluded from prec/rec/acc.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Qwen3.6-35B-A3B · think=off</a:t>
            </a:r>
          </a:p>
        </p:txBody>
      </p:sp>
      <p:pic>
        <p:nvPicPr>
          <p:cNvPr id="3" name="Picture 2" descr="confusion_qwen3_6_35b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855" y="685800"/>
            <a:ext cx="8211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One row per model; columns = validate_domain, validate_problem, validate_plan. TP = correctly predicted VALID, TN = correctly predicted INVALID. 'no-ans' counts truncated / parse-fail trials excluded from prec/rec/acc.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Qwen3.5-0.8B · think=on</a:t>
            </a:r>
          </a:p>
        </p:txBody>
      </p:sp>
      <p:pic>
        <p:nvPicPr>
          <p:cNvPr id="3" name="Picture 2" descr="confusion_Qwen3_5_0_8B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51" y="685800"/>
            <a:ext cx="8232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think=on bloats output budget — note the no-ans count: at this corpus the entire response is reasoning text with no JSON verdict (truncated_no_answer + format_parse_fail dominate).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Qwen3.5-4B · think=on</a:t>
            </a:r>
          </a:p>
        </p:txBody>
      </p:sp>
      <p:pic>
        <p:nvPicPr>
          <p:cNvPr id="3" name="Picture 2" descr="confusion_Qwen3_5_4B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814" y="685800"/>
            <a:ext cx="8216066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think=on bloats output budget — note the no-ans count: at this corpus the entire response is reasoning text with no JSON verdict (truncated_no_answer + format_parse_fail dominate).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Qwen3.5-9B · think=on</a:t>
            </a:r>
          </a:p>
        </p:txBody>
      </p:sp>
      <p:pic>
        <p:nvPicPr>
          <p:cNvPr id="3" name="Picture 2" descr="confusion_Qwen3_5_9B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51" y="685800"/>
            <a:ext cx="8232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think=on bloats output budget — note the no-ans count: at this corpus the entire response is reasoning text with no JSON verdict (truncated_no_answer + format_parse_fail dominate).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Gemma4-26B-A4B · think=on</a:t>
            </a:r>
          </a:p>
        </p:txBody>
      </p:sp>
      <p:pic>
        <p:nvPicPr>
          <p:cNvPr id="3" name="Picture 2" descr="confusion_gemma4_26b-a4b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51" y="685800"/>
            <a:ext cx="8232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think=on bloats output budget — note the no-ans count: at this corpus the entire response is reasoning text with no JSON verdict (truncated_no_answer + format_parse_fail dominate).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Qwen3.6-35B-A3B · think=on</a:t>
            </a:r>
          </a:p>
        </p:txBody>
      </p:sp>
      <p:pic>
        <p:nvPicPr>
          <p:cNvPr id="3" name="Picture 2" descr="confusion_qwen3_6_35b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855" y="685800"/>
            <a:ext cx="8211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think=on bloats output budget — note the no-ans count: at this corpus the entire response is reasoning text with no JSON verdict (truncated_no_answer + format_parse_fail dominate).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Validation-task metrics · no-tools · think=off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3154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no-ans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Validation-task metrics · with-tools · think=off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3154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no-ans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0.72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Validation-task metrics · no-tools · think=on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3154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no-ans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0.12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0.25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0.03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Validation-task metrics · with-tools · think=on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3154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no-ans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0.65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0.49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0.47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Simulate · no-tools · failure proofs (think=off) — raw model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54864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Qwen3.5-0.8B  ·  failure_reason = format_parse_fail  (234/300 simulate trials, 78%)  ·  sailing/p01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9611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"step":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"action": "",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"state":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"boolean": [],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"numeric": {}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}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78308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Qwen3.5-4B  ·  failure_reason = format_parse_fail  (176/300 simulate trials, 59%)  ·  barman/p01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213055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Here is the step-by-step state trace for the given PDDL plan.</a:t>
            </a:r>
          </a:p>
          <a:p/>
          <a:p>
            <a:r>
              <a:rPr sz="1000">
                <a:solidFill>
                  <a:srgbClr val="111122"/>
                </a:solidFill>
                <a:latin typeface="Menlo"/>
              </a:rPr>
              <a:t>### Step 0: Initial State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**Action:** (empty)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**State:**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- **Booleans:**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- `(ontable shaker1)`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- `(ontable shot1)`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... [+14 more lines]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301752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Qwen3.5-9B  ·  failure_reason = format_parse_fail  (201/319 simulate trials, 63%)  ·  miconic/p01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336499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"step":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"action": "",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"state":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"boolean": [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"(above f0 f1)",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"(origin p0 f0)",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"(destin p0 f1)",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... [+5 more lines]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425196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Gemma4-26B-A4B  ·  failure_reason = format_parse_fail  (216/300 simulate trials, 72%)  ·  barman/p02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459943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```json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[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{"step": 0, "action": "", "state": {"boolean": ["(ontable shaker1)", "(ontable shot1)", "(ontable shot2)", "(dispenses dispenser1 ingredient1)", "(dispenses dispenser2 ingredient2)", "(clean shaker1)", "(clean shot1)", "(clean shot2)", "(empty shaker1)", "(empty shot1)", "(empty shot2)", "(handempty left)", "(handempty right)", "(shaker_empty_level shaker1 l0)", "(shaker_level shaker1 l0)", "(next l0 l1)", "(next l1 l2)", "(cocktail_part1 cocktail1 ingredient2)", "(cocktail_part2 coc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548640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Qwen3.6-35B-A3B  ·  failure_reason = format_parse_fail  (208/300 simulate trials, 69%)  ·  sailing/p05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583387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"step":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"action": "",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"state":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"boolean": [],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"numeric":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"(x b0)": 4,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"(y b0)":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... [+5 more lines]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Simulate · no-tools · failure proofs (think=on) — raw model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54864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Qwen3.5-0.8B  ·  failure_reason = think_overflow  (293/300 simulate trials, 98%)  ·  barman/p01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9611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(empty response)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78308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Qwen3.5-4B  ·  failure_reason = think_overflow  (273/300 simulate trials, 91%)  ·  barman/p01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213055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(empty response)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301752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Qwen3.5-9B  ·  failure_reason = think_overflow  (200/300 simulate trials, 67%)  ·  barman/p01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336499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(empty response)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425196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Gemma4-26B-A4B  ·  failure_reason = truncated_no_answer  (285/300 simulate trials, 95%)  ·  barman/p01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459943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thought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*   `grasp(h, c)`: `ontable(c)` and `handempty(h)` $\rightarrow$ `not ontable(c)`, `not handempty(h)`, `holding(h, c)`.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*   `leave(h, c)`: `holding(h, c)` $\rightarrow$ `not holding(h, c)`, `handempty(h)`, `ontable(c)`.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*   `fill_shot(s, i, h1, h2, d)`: `holding(h1, s)`, `handempty(h2)`, `dispenses(d, i)`, `empty(s)`, `clean(s)` $\rightarrow$ `not empty(s)`, `contains(s, i)`, `not clean(s)`, `used(s, i)`.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*   `refill_shot(s, i, h1, h2, d)`: `holding(h1, s)`, `handempty(h2)`,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548640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Qwen3.6-35B-A3B  ·  failure_reason = think_overflow  (146/300 simulate trials, 49%)  ·  barman/p01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583387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(empty response)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Note on token accounting (output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This section reports OUTPUT (completion) tokens only.  Input tokens are dropped from the deck (2026-05-24): the 2-turn with-tools input premium is structural and not informative for arm comparison.</a:t>
            </a:r>
          </a:p>
          <a:p>
            <a:r>
              <a:rPr sz="1400"/>
              <a:t>• Output tokens = vLLM `completion_tokens` per trial.  A `trial` = one harness call for one (model, task, problem, prompt-variant).  For with-tools trials the harness runs a 2-turn agent loop; the per-trial output is SUMMED across both turns (pddl_eval/chat.py).</a:t>
            </a:r>
          </a:p>
          <a:p>
            <a:r>
              <a:rPr sz="1400"/>
              <a:t>• Each bar carries TWO numbers: the mean (the bar height) and the median (the `(m:NN)` parenthetical).  The median is robust to truncation outliers — preferred when one model truncates heavily and another doesn't.</a:t>
            </a:r>
          </a:p>
          <a:p>
            <a:r>
              <a:rPr sz="1400"/>
              <a:t>• Bar-internal label `f:NN%` is the cell failure% so expensive cells with low utility surface visibly.</a:t>
            </a:r>
          </a:p>
          <a:p>
            <a:r>
              <a:rPr sz="1400"/>
              <a:t>• Sweep-5 H3 predicts with-tools &lt; no-tools on per-successful-trial output tokens (the tool short-circuits long reasoning).  Compare tl-* arms against nt-* arms at the same model × think.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solve</a:t>
            </a:r>
          </a:p>
        </p:txBody>
      </p:sp>
      <p:pic>
        <p:nvPicPr>
          <p:cNvPr id="3" name="Picture 2" descr="tokens_task_s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`solve` trial. Bar label = mean (m:median).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val-dom</a:t>
            </a:r>
          </a:p>
        </p:txBody>
      </p:sp>
      <p:pic>
        <p:nvPicPr>
          <p:cNvPr id="3" name="Picture 2" descr="tokens_task_validate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`validate_domain` trial. Bar label = mean (m:median).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val-prob</a:t>
            </a:r>
          </a:p>
        </p:txBody>
      </p:sp>
      <p:pic>
        <p:nvPicPr>
          <p:cNvPr id="3" name="Picture 2" descr="tokens_task_validat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`validate_problem` trial. Bar label = mean (m:median).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val-plan</a:t>
            </a:r>
          </a:p>
        </p:txBody>
      </p:sp>
      <p:pic>
        <p:nvPicPr>
          <p:cNvPr id="3" name="Picture 2" descr="tokens_task_validate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`validate_plan` trial. Bar label = mean (m:median).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simulate</a:t>
            </a:r>
          </a:p>
        </p:txBody>
      </p:sp>
      <p:pic>
        <p:nvPicPr>
          <p:cNvPr id="3" name="Picture 2" descr="tokens_task_simu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`simulate` trial. Bar label = mean (m:median). Long step-by-step traces drive output; no-tools failure% is ~100% across the board.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solve</a:t>
            </a:r>
          </a:p>
        </p:txBody>
      </p:sp>
      <p:pic>
        <p:nvPicPr>
          <p:cNvPr id="3" name="Picture 2" descr="tokens_vs_success_s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41432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`solve`. Each marker = one (model, arm) cell; color = arm, marker shape = model. Lines connect the 5 model markers WITHIN an arm, sorted by x — so each line traces the within-arm correlation between token spend and success across model sizes. Compare line altitudes: tl-* arms sitting above nt-neut at lower x is the H3 read.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val-dom</a:t>
            </a:r>
          </a:p>
        </p:txBody>
      </p:sp>
      <p:pic>
        <p:nvPicPr>
          <p:cNvPr id="3" name="Picture 2" descr="tokens_vs_success_validate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916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`validate_domain`. Same encoding. Lines connect models within an arm (sorted by x), so the within-arm slope reads as 'do verbose cells do better or worse?' for that condition.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val-prob</a:t>
            </a:r>
          </a:p>
        </p:txBody>
      </p:sp>
      <p:pic>
        <p:nvPicPr>
          <p:cNvPr id="3" name="Picture 2" descr="tokens_vs_success_validat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901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`validate_problem`. Within-arm correlation across model sizes. The arm whose line sits highest AND leftmost is the Pareto-best configuration on this task.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val-plan</a:t>
            </a:r>
          </a:p>
        </p:txBody>
      </p:sp>
      <p:pic>
        <p:nvPicPr>
          <p:cNvPr id="3" name="Picture 2" descr="tokens_vs_success_validate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9783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`validate_plan`. Same encoding.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simulate</a:t>
            </a:r>
          </a:p>
        </p:txBody>
      </p:sp>
      <p:pic>
        <p:nvPicPr>
          <p:cNvPr id="3" name="Picture 2" descr="tokens_vs_success_simu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4073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`simulate`. The most expensive task per output-token budget; no-tools cells often sit at ~0% across the board (long step-by-step traces). Tools-arm lines vault above the no-tools line at lower x — the simulate-tool short-circuit replacing reasoning.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