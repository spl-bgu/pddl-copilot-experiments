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/>
              <a:t>PDDL Copilot — sweep-5 LIVE (in-flight, v11-v16 active prompts)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Qwen3.5:0.8B / 4B / 9B · gemma4:26b-a4b · qwen3.6:35b · sweep-5 active arms: neutral v11-v13 + steered v14-v16 · all-tools vs no-tools · think on/off · PRELIMINARY — partial cells (min-out 100 trials); missing bars = cell not yet at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(think=off)</a:t>
            </a:r>
          </a:p>
        </p:txBody>
      </p:sp>
      <p:pic>
        <p:nvPicPr>
          <p:cNvPr id="3" name="Picture 2" descr="success_by_arm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PRELIMINARY view: per-task success on partial sweep-5 cells (v11-v16, min-out 100). Missing bars = cell not yet at threshold. As of this rebuild, qwen3_6_35b and the smaller Qwen3.5 sizes have the most coverage; gemma4 no-tools cells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(think=on)</a:t>
            </a:r>
          </a:p>
        </p:txBody>
      </p:sp>
      <p:pic>
        <p:nvPicPr>
          <p:cNvPr id="3" name="Picture 2" descr="success_by_arm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chart, think=on. Note Qwen3.5-0.8B on/no-tools is dominated by truncated_no_answer (reasoning consumes the entire output budget). gemma4 on/no-tools is below the min-out threshold so has no bar.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H1 — tool utility (byte-identical prompts)</a:t>
            </a:r>
          </a:p>
        </p:txBody>
      </p:sp>
      <p:pic>
        <p:nvPicPr>
          <p:cNvPr id="3" name="Picture 2" descr="h1_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14" y="685800"/>
            <a:ext cx="896886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H1 — tool utility at byte-identical prompt content. Grey = no-tools (neut), blue = with-tools (neut). The (blue − grey) gap is the headline tool-utility claim from arXiv:2509.12987 under sweep-5's controlled comparison (same prompt text on both sides).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</a:t>
            </a:r>
          </a:p>
        </p:txBody>
      </p:sp>
      <p:pic>
        <p:nvPicPr>
          <p:cNvPr id="3" name="Picture 2" descr="h2_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selection. Blue = with-tools (neut), orange = with-tools (steered). Bar height = tool_selected%. `wt:NN%` annotation above each bar = FR_WRONG_TOOL share (marketplace 1.4.0 distinguishes wrong-tool from no-tool-call). H2 predicts blue → orange raises selection AND lowers wt%.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Tool selection rate per task — by arm</a:t>
            </a:r>
          </a:p>
        </p:txBody>
      </p:sp>
      <p:pic>
        <p:nvPicPr>
          <p:cNvPr id="3" name="Picture 2" descr="tool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13" y="685800"/>
            <a:ext cx="5394868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% of with-tools trials where the model invoked the expected planner/validator tool, over v11-v16 partial cells.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(think=off)</a:t>
            </a:r>
          </a:p>
        </p:txBody>
      </p:sp>
      <p:pic>
        <p:nvPicPr>
          <p:cNvPr id="3" name="Picture 2" descr="failure_breakdow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1" y="685800"/>
            <a:ext cx="10523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100%-stacked share of failure reasons per (model × arm × task) at think=off. verdict_mismatch and format_parse_fail dominate; truncated_no_answer present on the few rows that did hit the output cap. think_overflow is empty by gate — only think=on rows can carry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(think=on)</a:t>
            </a:r>
          </a:p>
        </p:txBody>
      </p:sp>
      <p:pic>
        <p:nvPicPr>
          <p:cNvPr id="3" name="Picture 2" descr="failure_breakdown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1" y="685800"/>
            <a:ext cx="10523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 at think=on. The light-pink think_overflow slab is the 2026-05-25 read-time relabel: rows where the model exhausted the output budget without emitting a visible response (vLLM qwen3 reasoning-parser eats partial `&lt;think&gt;` content on length-truncation). Qwen3.5 sizes are dominated by think_overflow on no-tools tasks; gemma4 (no reasoning parser) stays on truncated_no_answer because its response field is non-empty.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tasks · no-tools · confusion matrices (think=off)</a:t>
            </a:r>
          </a:p>
        </p:txBody>
      </p:sp>
      <p:pic>
        <p:nvPicPr>
          <p:cNvPr id="3" name="Picture 2" descr="confusion_no_tools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179" y="685800"/>
            <a:ext cx="355333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tasks · no-tools · confusion matrices (think=on)</a:t>
            </a:r>
          </a:p>
        </p:txBody>
      </p:sp>
      <p:pic>
        <p:nvPicPr>
          <p:cNvPr id="3" name="Picture 2" descr="confusion_no_tools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331" y="685800"/>
            <a:ext cx="356503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think=off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(think=off)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format_parse_fail  (234/300 simulate trials, 78%)  ·  sailing/p01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 ·  failure_reason = format_parse_fail  (176/300 simulate trials, 59%)  ·  barman/p01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Here is the step-by-step state trace for the given PDDL plan.</a:t>
            </a:r>
          </a:p>
          <a:p/>
          <a:p>
            <a:r>
              <a:rPr sz="1000">
                <a:solidFill>
                  <a:srgbClr val="111122"/>
                </a:solidFill>
                <a:latin typeface="Menlo"/>
              </a:rPr>
              <a:t>### Step 0: Initial State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**Action:** (empty)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**State:**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- **Booleans:**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shaker1)`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shot1)`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[+14 more lines]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 ·  failure_reason = format_parse_fail  (174/285 simulate trials, 61%)  ·  miconic/p01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"(above f0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"(origin p0 f0)",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"(destin p0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 ·  failure_reason = format_parse_fail  (216/300 simulate trials, 72%)  ·  barman/p02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```json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{"step": 0, "action": "", "state": {"boolean": ["(ontable shaker1)", "(ontable shot1)", "(ontable shot2)", "(dispenses dispenser1 ingredient1)", "(dispenses dispenser2 ingredient2)", "(clean shaker1)", "(clean shot1)", "(clean shot2)", "(empty shaker1)", "(empty shot1)", "(empty shot2)", "(handempty left)", "(handempty right)", "(shaker_empty_level shaker1 l0)", "(shaker_level shaker1 l0)", "(next l0 l1)", "(next l1 l2)", "(cocktail_part1 cocktail1 ingredient2)", "(cocktail_part2 coc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format_parse_fail  (208/300 simulate trials, 69%)  ·  sailing/p05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"(x b0)": 4,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"(y b0)":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(think=on)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think_overflow  (293/300 simulate trials, 98%)  ·  barman/p01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· no simulate trials in this cell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100">
                <a:solidFill>
                  <a:srgbClr val="888888"/>
                </a:solidFill>
              </a:rPr>
              <a:t>(no simulate trials)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· no simulate trials in this cell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100">
                <a:solidFill>
                  <a:srgbClr val="888888"/>
                </a:solidFill>
              </a:rPr>
              <a:t>(no simulate trials)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· no simulate trials in this cell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100">
                <a:solidFill>
                  <a:srgbClr val="888888"/>
                </a:solidFill>
              </a:rPr>
              <a:t>(no simulate trials)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think_overflow  (146/300 simulate trials, 49%)  ·  barman/p01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Note on token accounting (output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This section reports OUTPUT (completion) tokens only.  Input tokens are dropped from the deck (2026-05-24): the 2-turn with-tools input premium is structural and not informative for arm comparison.</a:t>
            </a:r>
          </a:p>
          <a:p>
            <a:r>
              <a:rPr sz="1400"/>
              <a:t>• Output tokens = vLLM `completion_tokens` per trial.  A `trial` = one harness call for one (model, task, problem, prompt-variant).  For with-tools trials the harness runs a 2-turn agent loop; the per-trial output is SUMMED across both turns (pddl_eval/chat.py).</a:t>
            </a:r>
          </a:p>
          <a:p>
            <a:r>
              <a:rPr sz="1400"/>
              <a:t>• Each bar carries TWO numbers: the mean (the bar height) and the median (the `(m:NN)` parenthetical).  The median is robust to truncation outliers — preferred when one model truncates heavily and another doesn't.</a:t>
            </a:r>
          </a:p>
          <a:p>
            <a:r>
              <a:rPr sz="1400"/>
              <a:t>• Bar-internal label `f:NN%` is the cell failure% so expensive cells with low utility surface visibly.</a:t>
            </a:r>
          </a:p>
          <a:p>
            <a:r>
              <a:rPr sz="1400"/>
              <a:t>• Sweep-5 H3 predicts with-tools &lt; no-tools on per-successful-trial output tokens (the tool short-circuits long reasoning).  Compare tl-* arms against nt-* arms at the same model × think.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solve</a:t>
            </a:r>
          </a:p>
        </p:txBody>
      </p:sp>
      <p:pic>
        <p:nvPicPr>
          <p:cNvPr id="3" name="Picture 2" descr="tokens_task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`solve` trial. Bar label = mean (m:median).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val-dom</a:t>
            </a:r>
          </a:p>
        </p:txBody>
      </p:sp>
      <p:pic>
        <p:nvPicPr>
          <p:cNvPr id="3" name="Picture 2" descr="tokens_task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`validate_domain` trial. Bar label = mean (m:median).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val-prob</a:t>
            </a:r>
          </a:p>
        </p:txBody>
      </p:sp>
      <p:pic>
        <p:nvPicPr>
          <p:cNvPr id="3" name="Picture 2" descr="tokens_task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`validate_problem` trial. Bar label = mean (m:median).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val-plan</a:t>
            </a:r>
          </a:p>
        </p:txBody>
      </p:sp>
      <p:pic>
        <p:nvPicPr>
          <p:cNvPr id="3" name="Picture 2" descr="tokens_task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`validate_plan` trial. Bar label = mean (m:median).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simulate</a:t>
            </a:r>
          </a:p>
        </p:txBody>
      </p:sp>
      <p:pic>
        <p:nvPicPr>
          <p:cNvPr id="3" name="Picture 2" descr="tokens_task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`simulate` trial. Bar label = mean (m:median). Long step-by-step traces drive output; no-tools failure% is ~100% across the 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solve</a:t>
            </a:r>
          </a:p>
        </p:txBody>
      </p:sp>
      <p:pic>
        <p:nvPicPr>
          <p:cNvPr id="3" name="Picture 2" descr="tokens_vs_success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1432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`solve`. Each marker = one (model, arm) cell; color = arm, marker shape = model. Lines connect the 5 model markers WITHIN an arm, sorted by x — so each line traces the within-arm correlation between token spend and success across model sizes. Compare line altitudes: tl-* arms sitting above nt-neut at lower x is the H3 read.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val-dom</a:t>
            </a:r>
          </a:p>
        </p:txBody>
      </p:sp>
      <p:pic>
        <p:nvPicPr>
          <p:cNvPr id="3" name="Picture 2" descr="tokens_vs_success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16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`validate_domain`. Same encoding. Lines connect models within an arm (sorted by x), so the within-arm slope reads as 'do verbose cells do better or worse?' for that condition.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val-prob</a:t>
            </a:r>
          </a:p>
        </p:txBody>
      </p:sp>
      <p:pic>
        <p:nvPicPr>
          <p:cNvPr id="3" name="Picture 2" descr="tokens_vs_success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01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`validate_problem`. Within-arm correlation across model sizes. The arm whose line sits highest AND leftmost is the Pareto-best configuration on this task.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val-plan</a:t>
            </a:r>
          </a:p>
        </p:txBody>
      </p:sp>
      <p:pic>
        <p:nvPicPr>
          <p:cNvPr id="3" name="Picture 2" descr="tokens_vs_success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78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`validate_plan`. Same encoding.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simulate</a:t>
            </a:r>
          </a:p>
        </p:txBody>
      </p:sp>
      <p:pic>
        <p:nvPicPr>
          <p:cNvPr id="3" name="Picture 2" descr="tokens_vs_success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07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`simulate`. The most expensive task per output-token budget; no-tools cells often sit at ~0% across the board (long step-by-step traces). Tools-arm lines vault above the no-tools line at lower x — the simulate-tool short-circuit replacing reasoning.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