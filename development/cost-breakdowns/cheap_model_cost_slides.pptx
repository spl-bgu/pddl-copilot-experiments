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64592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3050"/>
                </a:solidFill>
              </a:rPr>
              <a:t>Cheap-Model API Baseline — Two-Benchmark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i="1">
                <a:solidFill>
                  <a:srgbClr val="555555"/>
                </a:solidFill>
              </a:rPr>
              <a:t>Full corpus · both think on/off · all variants  ·  no-tools = Batch −50% · with-tools = prompt-cache (input ×0.5, can't batch the tool loop)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88720"/>
          <a:ext cx="72237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$/Mtok
(in / out)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sweep5
single-tool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PlanBench
full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Total
/ model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3050"/>
                          </a:solidFill>
                        </a:rPr>
                        <a:t>Haiku 4.5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55555"/>
                          </a:solidFill>
                        </a:rPr>
                        <a:t>$1 / $5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555555"/>
                          </a:solidFill>
                        </a:rPr>
                        <a:t>$418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555555"/>
                          </a:solidFill>
                        </a:rPr>
                        <a:t>$395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3050"/>
                          </a:solidFill>
                        </a:rPr>
                        <a:t>$813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3050"/>
                          </a:solidFill>
                        </a:rPr>
                        <a:t>Gemini Flash-Lite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55555"/>
                          </a:solidFill>
                        </a:rPr>
                        <a:t>$0.25 / $1.50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555555"/>
                          </a:solidFill>
                        </a:rPr>
                        <a:t>$120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555555"/>
                          </a:solidFill>
                        </a:rPr>
                        <a:t>$114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3050"/>
                          </a:solidFill>
                        </a:rPr>
                        <a:t>$233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3050"/>
                          </a:solidFill>
                        </a:rPr>
                        <a:t>Sonnet 4.6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55555"/>
                          </a:solidFill>
                        </a:rPr>
                        <a:t>$3 / $15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555555"/>
                          </a:solidFill>
                        </a:rPr>
                        <a:t>$1,254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555555"/>
                          </a:solidFill>
                        </a:rPr>
                        <a:t>$1,186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3050"/>
                          </a:solidFill>
                        </a:rPr>
                        <a:t>$2,440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3050"/>
                          </a:solidFill>
                        </a:rPr>
                        <a:t>Qwen-Flash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55555"/>
                          </a:solidFill>
                        </a:rPr>
                        <a:t>$0.05 / $0.40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555555"/>
                          </a:solidFill>
                        </a:rPr>
                        <a:t>$30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555555"/>
                          </a:solidFill>
                        </a:rPr>
                        <a:t>$29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3050"/>
                          </a:solidFill>
                        </a:rPr>
                        <a:t>$59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3564032"/>
            <a:ext cx="74980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335588"/>
                </a:solidFill>
              </a:rPr>
              <a:t>Two-model pair totals (both benchmarks, discounted)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3977639"/>
          <a:ext cx="60350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17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3050"/>
                          </a:solidFill>
                        </a:rPr>
                        <a:t>Option 1 · Haiku + Gemini Flash-Lite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335588"/>
                          </a:solidFill>
                        </a:rPr>
                        <a:t>$1,047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050"/>
                          </a:solidFill>
                        </a:rPr>
                        <a:t>Option 2 · Haiku + Sonnet 4.6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F3050"/>
                          </a:solidFill>
                        </a:rPr>
                        <a:t>$3,253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050"/>
                          </a:solidFill>
                        </a:rPr>
                        <a:t>+ optional · Haiku + Qwen-Flash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F3050"/>
                          </a:solidFill>
                        </a:rPr>
                        <a:t>$872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80" y="1117285"/>
            <a:ext cx="4505723" cy="2428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335588"/>
                </a:solidFill>
              </a:rPr>
              <a:t>Why option 1</a:t>
            </a:r>
          </a:p>
          <a:p>
            <a:pPr>
              <a:spcBef>
                <a:spcPts val="700"/>
              </a:spcBef>
            </a:pPr>
            <a:r>
              <a:rPr sz="1050" b="1" dirty="0">
                <a:solidFill>
                  <a:srgbClr val="1F3050"/>
                </a:solidFill>
              </a:rPr>
              <a:t>▪ Both are closed frontier models.  </a:t>
            </a:r>
            <a:r>
              <a:rPr sz="1050" dirty="0">
                <a:solidFill>
                  <a:srgbClr val="555555"/>
                </a:solidFill>
              </a:rPr>
              <a:t>You can't self-host Haiku or Gemini — that's exactly what API budget should buy. ~$1,047 for BOTH full benchmarks, 2 models.</a:t>
            </a:r>
          </a:p>
          <a:p>
            <a:pPr>
              <a:spcBef>
                <a:spcPts val="700"/>
              </a:spcBef>
            </a:pPr>
            <a:r>
              <a:rPr sz="1050" b="1" dirty="0">
                <a:solidFill>
                  <a:srgbClr val="1F3050"/>
                </a:solidFill>
              </a:rPr>
              <a:t>▪ Sonnet is the pricier anchor.  </a:t>
            </a:r>
            <a:r>
              <a:rPr sz="1050" dirty="0">
                <a:solidFill>
                  <a:srgbClr val="555555"/>
                </a:solidFill>
              </a:rPr>
              <a:t>Option 2 = $3,253 (3×). Sonnet isn't 'small' — it buys a stronger upper-bound point, not a cheap one.</a:t>
            </a:r>
          </a:p>
          <a:p>
            <a:pPr>
              <a:spcBef>
                <a:spcPts val="700"/>
              </a:spcBef>
            </a:pPr>
            <a:r>
              <a:rPr sz="1050" b="1" dirty="0">
                <a:solidFill>
                  <a:srgbClr val="1F3050"/>
                </a:solidFill>
              </a:rPr>
              <a:t>▪ Qwen-Flash is cheapest but redundant.  </a:t>
            </a:r>
            <a:r>
              <a:rPr sz="1050" dirty="0">
                <a:solidFill>
                  <a:srgbClr val="555555"/>
                </a:solidFill>
              </a:rPr>
              <a:t>+$59/model and matches the tested family, but you already run Qwen locally for free on SLURM, and API-Qwen ≠ your checkpoint (different corpus). Use only as a managed point.</a:t>
            </a:r>
          </a:p>
          <a:p>
            <a:pPr>
              <a:spcBef>
                <a:spcPts val="700"/>
              </a:spcBef>
            </a:pPr>
            <a:r>
              <a:rPr sz="1050" b="1" dirty="0">
                <a:solidFill>
                  <a:srgbClr val="1F3050"/>
                </a:solidFill>
              </a:rPr>
              <a:t>▪ Levers save ~30%, not more.  </a:t>
            </a:r>
            <a:r>
              <a:rPr sz="1050" dirty="0">
                <a:solidFill>
                  <a:srgbClr val="555555"/>
                </a:solidFill>
              </a:rPr>
              <a:t>Output (priced 5× input) is untouched by caching, and the with-tools arm can't batch. List → discounted: Sonnet $3,735 → $2,440.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327648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i="1">
                <a:solidFill>
                  <a:srgbClr val="555555"/>
                </a:solidFill>
              </a:rPr>
              <a:t>Tokens: measured Qwen3.5-9B (real for Qwen, PROXY for closed models — extended-thinking output may be 2-5× on think-on cells). PlanBench tokens = aggregate proxy. Pricing: Claude authoritative; Gemini/Qwen web, Jun 2026. Pilot ~$20-35 to calibrate before committing.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64592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3050"/>
                </a:solidFill>
              </a:rPr>
              <a:t>Single-Tool (sweep5) — Cost by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i="1">
                <a:solidFill>
                  <a:srgbClr val="555555"/>
                </a:solidFill>
              </a:rPr>
              <a:t>Per-model task TOTAL across full matrix (no-tools 3 variants + with-tools 6 variants, × 2 think) · tokens are cumulative across the agent loop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88720"/>
          <a:ext cx="8823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trials
/model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in tok
/trial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out tok
/trial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Haiku
$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Gemini
$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Sonnet
$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Qwen
$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solve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1,800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10,983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4,269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$41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$124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validate_domain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2,160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6,612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2,004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$22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$6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$66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$2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validate_problem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3,600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8,047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2,376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$47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$13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$142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A03030"/>
                          </a:solidFill>
                        </a:rPr>
                        <a:t>validate_plan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18,000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8,299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2,854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$276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$79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$828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$20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simulate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1,800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11,174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3,077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$31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$94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4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ALL TASKS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</a:rPr>
                        <a:t>27,360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$418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$120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$1,254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$30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4434840"/>
            <a:ext cx="11612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35588"/>
                </a:solidFill>
              </a:rPr>
              <a:t>Read this table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validate_plan = 66% of every bill.  </a:t>
            </a:r>
            <a:r>
              <a:rPr sz="1050">
                <a:solidFill>
                  <a:srgbClr val="555555"/>
                </a:solidFill>
              </a:rPr>
              <a:t>It runs 10 plan fixtures (b1-b5 buggy + v1-v5 valid) × 100 problems × variants × think = 18,000 of 27,360 trials. The #1 cut target (slide 3).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with-tools input dwarfs no-tools.  </a:t>
            </a:r>
            <a:r>
              <a:rPr sz="1050">
                <a:solidFill>
                  <a:srgbClr val="555555"/>
                </a:solidFill>
              </a:rPr>
              <a:t>solve/simulate carry 11-17K input tok/trial — the tool loop re-bills domain+schemas+history each turn; caching that prefix is the main input lever.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$/trial = task $ ÷ trials.  </a:t>
            </a:r>
            <a:r>
              <a:rPr sz="1050">
                <a:solidFill>
                  <a:srgbClr val="555555"/>
                </a:solidFill>
              </a:rPr>
              <a:t>e.g. validate_plan on Gemini = $79/18,000 ≈ $0.004/prompt; on Sonnet ≈ $0.046; on Qwen ≈ $0.001.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327648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i="1">
                <a:solidFill>
                  <a:srgbClr val="555555"/>
                </a:solidFill>
              </a:rPr>
              <a:t>Discounted (no-tools Batch −50%; with-tools input-cache ×0.5). Per-task token means averaged over the task's 4 cells weighted by trial count. Source: sweep5v2 Qwen3.5-9B corpus.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64592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3050"/>
                </a:solidFill>
              </a:rPr>
              <a:t>Cutting Cost by Cutting Volume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i="1">
                <a:solidFill>
                  <a:srgbClr val="555555"/>
                </a:solidFill>
              </a:rPr>
              <a:t>% reductions are model-independent (token structure is fixed) — they transfer to any pair. $ shown for the recommended Haiku + Gemini Flash-Lite pair (sweep5)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234440"/>
          <a:ext cx="100584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% of full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Haiku+Gemini $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Lever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050"/>
                          </a:solidFill>
                        </a:rPr>
                        <a:t>FULL (baseline)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3050"/>
                          </a:solidFill>
                        </a:rPr>
                        <a:t>100%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3050"/>
                          </a:solidFill>
                        </a:rPr>
                        <a:t>$537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55555"/>
                          </a:solidFill>
                        </a:rPr>
                        <a:t>all 5 tasks · 20 domains · 6+3 variants · both think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validate_plan 10→4 fixtures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3050"/>
                          </a:solidFill>
                        </a:rPr>
                        <a:t>60%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3050"/>
                          </a:solidFill>
                        </a:rPr>
                        <a:t>$325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55555"/>
                          </a:solidFill>
                        </a:rPr>
                        <a:t>drop redundant plan fixtures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with-tools variants 6→2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3050"/>
                          </a:solidFill>
                        </a:rPr>
                        <a:t>48%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3050"/>
                          </a:solidFill>
                        </a:rPr>
                        <a:t>$259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55555"/>
                          </a:solidFill>
                        </a:rPr>
                        <a:t>fewer prompt phrasings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domains 20→10 (half pool)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3050"/>
                          </a:solidFill>
                        </a:rPr>
                        <a:t>50%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3050"/>
                          </a:solidFill>
                        </a:rPr>
                        <a:t>$269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55555"/>
                          </a:solidFill>
                        </a:rPr>
                        <a:t>halve the domain pool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no-tools variants 3→1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3050"/>
                          </a:solidFill>
                        </a:rPr>
                        <a:t>85%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3050"/>
                          </a:solidFill>
                        </a:rPr>
                        <a:t>$457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55555"/>
                          </a:solidFill>
                        </a:rPr>
                        <a:t>small — no-tools is cheap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think-off only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3050"/>
                          </a:solidFill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3050"/>
                          </a:solidFill>
                        </a:rPr>
                        <a:t>$192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55555"/>
                          </a:solidFill>
                        </a:rPr>
                        <a:t>biggest single lever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050"/>
                          </a:solidFill>
                        </a:rPr>
                        <a:t>LEAN  (vp4 · ½dom · wt2 · nt1)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335588"/>
                          </a:solidFill>
                        </a:rPr>
                        <a:t>10%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dirty="0">
                          <a:solidFill>
                            <a:srgbClr val="1F3050"/>
                          </a:solidFill>
                        </a:rPr>
                        <a:t>$54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555555"/>
                          </a:solidFill>
                        </a:rPr>
                        <a:t>stack structural cuts, keep both think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LEAN + think-off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3050"/>
                          </a:solidFill>
                        </a:rPr>
                        <a:t>4%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3050"/>
                          </a:solidFill>
                        </a:rPr>
                        <a:t>$20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555555"/>
                          </a:solidFill>
                        </a:rPr>
                        <a:t>floor — power drops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489204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35588"/>
                </a:solidFill>
              </a:rPr>
              <a:t>Biggest levers, in order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Drop think-on: −64%.  </a:t>
            </a:r>
            <a:r>
              <a:rPr sz="1050">
                <a:solidFill>
                  <a:srgbClr val="555555"/>
                </a:solidFill>
              </a:rPr>
              <a:t>Halves the matrix and removes the extended-thinking output blow-up (the single biggest closed-model cost risk).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Trim with-tools variants 6→2: −52% · halve domains: −50% · validate_plan 10→4: −40%.  </a:t>
            </a:r>
            <a:r>
              <a:rPr sz="1050">
                <a:solidFill>
                  <a:srgbClr val="555555"/>
                </a:solidFill>
              </a:rPr>
              <a:t>These stack: keeping both think but cutting structure → ~10% of full (Haiku+Gemini sweep5 $538 → ~$54), with statistical power largely intact.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327648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i="1">
                <a:solidFill>
                  <a:srgbClr val="555555"/>
                </a:solidFill>
              </a:rPr>
              <a:t>Scenarios computed on the sweep5 token table. PlanBench scales the same way (its analogue of validate_plan-style cost is the with-tools think-on cell). Cuts are labeled variants — flag any domain/fixture sampling in the writeup.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935</Words>
  <Application>Microsoft Macintosh PowerPoint</Application>
  <PresentationFormat>Widescreen</PresentationFormat>
  <Paragraphs>143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אומר אליהו</cp:lastModifiedBy>
  <cp:revision>2</cp:revision>
  <dcterms:created xsi:type="dcterms:W3CDTF">2013-01-27T09:14:16Z</dcterms:created>
  <dcterms:modified xsi:type="dcterms:W3CDTF">2026-06-15T12:56:21Z</dcterms:modified>
  <cp:category/>
</cp:coreProperties>
</file>