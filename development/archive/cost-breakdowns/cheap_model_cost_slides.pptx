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050"/>
                </a:solidFill>
              </a:rPr>
              <a:t>Single-Tool Cost — Now Measured, Not Estimated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58368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55555"/>
                </a:solidFill>
              </a:rPr>
              <a:t>Two live Anthropic API runs (Jun 2026) replace the Qwen3.5-9B proxy  ·  think-off, plain variants  ·  the proxy was wrong both ways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5496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508760"/>
                <a:gridCol w="3063240"/>
                <a:gridCol w="1234440"/>
                <a:gridCol w="1417320"/>
              </a:tblGrid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</a:rPr>
                        <a:t>Arm</a:t>
                      </a:r>
                    </a:p>
                  </a:txBody>
                  <a:tcPr marL="54864" marR="54864" marT="18288" marB="18288">
                    <a:solidFill>
                      <a:srgbClr val="3355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marL="54864" marR="54864" marT="18288" marB="18288">
                    <a:solidFill>
                      <a:srgbClr val="3355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</a:rPr>
                        <a:t>What ran</a:t>
                      </a:r>
                    </a:p>
                  </a:txBody>
                  <a:tcPr marL="54864" marR="54864" marT="18288" marB="18288">
                    <a:solidFill>
                      <a:srgbClr val="3355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Price basis</a:t>
                      </a:r>
                    </a:p>
                  </a:txBody>
                  <a:tcPr marL="54864" marR="54864" marT="18288" marB="18288">
                    <a:solidFill>
                      <a:srgbClr val="3355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Measured $</a:t>
                      </a:r>
                    </a:p>
                  </a:txBody>
                  <a:tcPr marL="54864" marR="54864" marT="18288" marB="18288">
                    <a:solidFill>
                      <a:srgbClr val="335588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3050"/>
                          </a:solidFill>
                        </a:rPr>
                        <a:t>no-tools</a:t>
                      </a:r>
                    </a:p>
                  </a:txBody>
                  <a:tcPr marL="54864" marR="54864" marT="18288" marB="18288"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050"/>
                          </a:solidFill>
                        </a:rPr>
                        <a:t>Sonnet 4.6</a:t>
                      </a:r>
                    </a:p>
                  </a:txBody>
                  <a:tcPr marL="54864" marR="54864" marT="18288" marB="18288"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555555"/>
                          </a:solidFill>
                        </a:rPr>
                        <a:t>full run, both corpora (9,120 trials)</a:t>
                      </a:r>
                    </a:p>
                  </a:txBody>
                  <a:tcPr marL="54864" marR="54864" marT="18288" marB="18288"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</a:rPr>
                        <a:t>Batch −50%</a:t>
                      </a:r>
                    </a:p>
                  </a:txBody>
                  <a:tcPr marL="54864" marR="54864" marT="18288" marB="18288"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1F3050"/>
                          </a:solidFill>
                        </a:rPr>
                        <a:t>$81.51</a:t>
                      </a:r>
                    </a:p>
                  </a:txBody>
                  <a:tcPr marL="54864" marR="54864" marT="18288" marB="18288">
                    <a:solidFill>
                      <a:srgbClr val="E2F0D9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3050"/>
                          </a:solidFill>
                        </a:rPr>
                        <a:t>with-tools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050"/>
                          </a:solidFill>
                        </a:rPr>
                        <a:t>Sonnet 4.6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555555"/>
                          </a:solidFill>
                        </a:rPr>
                        <a:t>probe → plain projection (4,560)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</a:rPr>
                        <a:t>List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1F3050"/>
                          </a:solidFill>
                        </a:rPr>
                        <a:t>$449 / corpus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3050"/>
                          </a:solidFill>
                        </a:rPr>
                        <a:t>with-tools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050"/>
                          </a:solidFill>
                        </a:rPr>
                        <a:t>Haiku 4.5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555555"/>
                          </a:solidFill>
                        </a:rPr>
                        <a:t>probe → plain projection (4,560)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</a:rPr>
                        <a:t>List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1F3050"/>
                          </a:solidFill>
                        </a:rPr>
                        <a:t>$146 / corpus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274320" y="3246120"/>
            <a:ext cx="5623560" cy="2514600"/>
          </a:xfrm>
          <a:prstGeom prst="roundRect">
            <a:avLst/>
          </a:prstGeom>
          <a:solidFill>
            <a:srgbClr val="FBEEEE"/>
          </a:solidFill>
          <a:ln w="19050">
            <a:solidFill>
              <a:srgbClr val="A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447288"/>
            <a:ext cx="5111496" cy="2112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A03030"/>
                </a:solidFill>
              </a:rPr>
              <a:t>▲  No-tools: proxy 1.9× too HIGH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1F3050"/>
                </a:solidFill>
              </a:rPr>
              <a:t>• Real Sonnet = $39/corpus, proxy said $73.  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1F3050"/>
                </a:solidFill>
              </a:rPr>
              <a:t>• Output collapses.  </a:t>
            </a:r>
            <a:r>
              <a:rPr sz="1100">
                <a:solidFill>
                  <a:srgbClr val="555555"/>
                </a:solidFill>
              </a:rPr>
              <a:t>Qwen3.5-9B writes a long answer even think-off; Sonnet is terse — solve 3,746 → 261 out tok/trial, validate_plan 1,771 → 834.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1F3050"/>
                </a:solidFill>
              </a:rPr>
              <a:t>• Input ~+15% only.  </a:t>
            </a:r>
            <a:r>
              <a:rPr sz="1100">
                <a:solidFill>
                  <a:srgbClr val="555555"/>
                </a:solidFill>
              </a:rPr>
              <a:t>Sonnet tokenizer is slightly heavier; output drove the error.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246120"/>
            <a:ext cx="5788152" cy="2514600"/>
          </a:xfrm>
          <a:prstGeom prst="roundRect">
            <a:avLst/>
          </a:prstGeom>
          <a:solidFill>
            <a:srgbClr val="ECF1F8"/>
          </a:solidFill>
          <a:ln w="19050">
            <a:solidFill>
              <a:srgbClr val="3355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3447288"/>
            <a:ext cx="5276088" cy="2112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35588"/>
                </a:solidFill>
              </a:rPr>
              <a:t>▼  With-tools: proxy 1.6× too LOW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1F3050"/>
                </a:solidFill>
              </a:rPr>
              <a:t>• Real Haiku-plain = $146/corpus, proxy said $92 (list).  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1F3050"/>
                </a:solidFill>
              </a:rPr>
              <a:t>• The agentic loop re-bills everything.  </a:t>
            </a:r>
            <a:r>
              <a:rPr sz="1100">
                <a:solidFill>
                  <a:srgbClr val="555555"/>
                </a:solidFill>
              </a:rPr>
              <a:t>domain + ~3.6k-tok tool schema + history, every turn; simulate dumps a giant trajectory (solve $9→$26, simulate $8→$30).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1F3050"/>
                </a:solidFill>
              </a:rPr>
              <a:t>• Can't batch.  </a:t>
            </a:r>
            <a:r>
              <a:rPr sz="1100">
                <a:solidFill>
                  <a:srgbClr val="555555"/>
                </a:solidFill>
              </a:rPr>
              <a:t>the tool loop is live → LIST price, no −50%. Errors don't cancel per-arm — budget each arm from its own anchor.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327648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i="1">
                <a:solidFill>
                  <a:srgbClr val="555555"/>
                </a:solidFill>
              </a:rPr>
              <a:t>Sources: .local/sonnet/grade_{canonical,anon}.log (no-tools, measured) · development/with_tools_probe_findings.md (with-tools probe). Both think-OFF — there is no frontier think-ON anchor yet; treat any think-on figure as unmeasured.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050"/>
                </a:solidFill>
              </a:rPr>
              <a:t>Single-Tool by Task — Measured Tokens &amp; $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58368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55555"/>
                </a:solidFill>
              </a:rPr>
              <a:t>think-off · plain · ONE corpus.  NT = Sonnet (Batch −50%); WT = live probe (List).  The WT input column is the whole story: the tool loop, not the answer, is the bill.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07008"/>
          <a:ext cx="91897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51560"/>
                <a:gridCol w="1325880"/>
                <a:gridCol w="1188720"/>
                <a:gridCol w="1188720"/>
                <a:gridCol w="2423160"/>
              </a:tblGrid>
              <a:tr h="391885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</a:rPr>
                        <a:t>Task</a:t>
                      </a:r>
                    </a:p>
                  </a:txBody>
                  <a:tcPr marL="54864" marR="54864" marT="18288" marB="18288">
                    <a:solidFill>
                      <a:srgbClr val="3355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n/corpus</a:t>
                      </a:r>
                    </a:p>
                  </a:txBody>
                  <a:tcPr marL="54864" marR="54864" marT="18288" marB="18288">
                    <a:solidFill>
                      <a:srgbClr val="3355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NT $
(Son, batch)</a:t>
                      </a:r>
                    </a:p>
                  </a:txBody>
                  <a:tcPr marL="54864" marR="54864" marT="18288" marB="18288">
                    <a:solidFill>
                      <a:srgbClr val="3355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WT $
Sonnet</a:t>
                      </a:r>
                    </a:p>
                  </a:txBody>
                  <a:tcPr marL="54864" marR="54864" marT="18288" marB="18288">
                    <a:solidFill>
                      <a:srgbClr val="3355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WT $
Haiku</a:t>
                      </a:r>
                    </a:p>
                  </a:txBody>
                  <a:tcPr marL="54864" marR="54864" marT="18288" marB="18288">
                    <a:solidFill>
                      <a:srgbClr val="3355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WT input tok/trial
Sonnet / Haiku</a:t>
                      </a:r>
                    </a:p>
                  </a:txBody>
                  <a:tcPr marL="54864" marR="54864" marT="18288" marB="18288">
                    <a:solidFill>
                      <a:srgbClr val="335588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050"/>
                          </a:solidFill>
                        </a:rPr>
                        <a:t>solve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</a:rPr>
                        <a:t>300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3050"/>
                          </a:solidFill>
                        </a:rPr>
                        <a:t>$1.24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3050"/>
                          </a:solidFill>
                        </a:rPr>
                        <a:t>$30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3050"/>
                          </a:solidFill>
                        </a:rPr>
                        <a:t>$26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A03030"/>
                          </a:solidFill>
                        </a:rPr>
                        <a:t>19k / 50k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050"/>
                          </a:solidFill>
                        </a:rPr>
                        <a:t>validate_domain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</a:rPr>
                        <a:t>360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3050"/>
                          </a:solidFill>
                        </a:rPr>
                        <a:t>$1.38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3050"/>
                          </a:solidFill>
                        </a:rPr>
                        <a:t>$19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3050"/>
                          </a:solidFill>
                        </a:rPr>
                        <a:t>$6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</a:rPr>
                        <a:t>11k / 11k</a:t>
                      </a:r>
                    </a:p>
                  </a:txBody>
                  <a:tcPr marL="54864" marR="54864" marT="18288" marB="18288">
                    <a:solidFill>
                      <a:srgbClr val="F2F5FA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050"/>
                          </a:solidFill>
                        </a:rPr>
                        <a:t>validate_problem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</a:rPr>
                        <a:t>600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3050"/>
                          </a:solidFill>
                        </a:rPr>
                        <a:t>$2.19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3050"/>
                          </a:solidFill>
                        </a:rPr>
                        <a:t>$34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3050"/>
                          </a:solidFill>
                        </a:rPr>
                        <a:t>$11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</a:rPr>
                        <a:t>12k / 12k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A03030"/>
                          </a:solidFill>
                        </a:rPr>
                        <a:t>validate_plan</a:t>
                      </a:r>
                    </a:p>
                  </a:txBody>
                  <a:tcPr marL="54864" marR="54864" marT="18288" marB="18288"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</a:rPr>
                        <a:t>3,000</a:t>
                      </a:r>
                    </a:p>
                  </a:txBody>
                  <a:tcPr marL="54864" marR="54864" marT="18288" marB="18288"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F3050"/>
                          </a:solidFill>
                        </a:rPr>
                        <a:t>$25.63</a:t>
                      </a:r>
                    </a:p>
                  </a:txBody>
                  <a:tcPr marL="54864" marR="54864" marT="18288" marB="18288"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F3050"/>
                          </a:solidFill>
                        </a:rPr>
                        <a:t>$212</a:t>
                      </a:r>
                    </a:p>
                  </a:txBody>
                  <a:tcPr marL="54864" marR="54864" marT="18288" marB="18288"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F3050"/>
                          </a:solidFill>
                        </a:rPr>
                        <a:t>$73</a:t>
                      </a:r>
                    </a:p>
                  </a:txBody>
                  <a:tcPr marL="54864" marR="54864" marT="18288" marB="18288"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</a:rPr>
                        <a:t>14k / 15k</a:t>
                      </a:r>
                    </a:p>
                  </a:txBody>
                  <a:tcPr marL="54864" marR="54864" marT="18288" marB="18288">
                    <a:solidFill>
                      <a:srgbClr val="E2F0D9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3050"/>
                          </a:solidFill>
                        </a:rPr>
                        <a:t>simulate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555555"/>
                          </a:solidFill>
                        </a:rPr>
                        <a:t>300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3050"/>
                          </a:solidFill>
                        </a:rPr>
                        <a:t>$8.67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3050"/>
                          </a:solidFill>
                        </a:rPr>
                        <a:t>$154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3050"/>
                          </a:solidFill>
                        </a:rPr>
                        <a:t>$30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A03030"/>
                          </a:solidFill>
                        </a:rPr>
                        <a:t>141k / 78k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9189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</a:rPr>
                        <a:t>ALL TASKS</a:t>
                      </a:r>
                    </a:p>
                  </a:txBody>
                  <a:tcPr marL="54864" marR="54864" marT="18288" marB="18288">
                    <a:solidFill>
                      <a:srgbClr val="3355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</a:rPr>
                        <a:t>4,560</a:t>
                      </a:r>
                    </a:p>
                  </a:txBody>
                  <a:tcPr marL="54864" marR="54864" marT="18288" marB="18288">
                    <a:solidFill>
                      <a:srgbClr val="3355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</a:rPr>
                        <a:t>$39</a:t>
                      </a:r>
                    </a:p>
                  </a:txBody>
                  <a:tcPr marL="54864" marR="54864" marT="18288" marB="18288">
                    <a:solidFill>
                      <a:srgbClr val="3355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</a:rPr>
                        <a:t>$449</a:t>
                      </a:r>
                    </a:p>
                  </a:txBody>
                  <a:tcPr marL="54864" marR="54864" marT="18288" marB="18288">
                    <a:solidFill>
                      <a:srgbClr val="3355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</a:rPr>
                        <a:t>$146</a:t>
                      </a:r>
                    </a:p>
                  </a:txBody>
                  <a:tcPr marL="54864" marR="54864" marT="18288" marB="18288">
                    <a:solidFill>
                      <a:srgbClr val="3355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050"/>
                          </a:solidFill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33558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4251960"/>
            <a:ext cx="11612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35588"/>
                </a:solidFill>
              </a:rPr>
              <a:t>Read this table</a:t>
            </a:r>
          </a:p>
          <a:p>
            <a:pPr>
              <a:spcBef>
                <a:spcPts val="700"/>
              </a:spcBef>
            </a:pPr>
            <a:r>
              <a:rPr sz="1050" b="1">
                <a:solidFill>
                  <a:srgbClr val="1F3050"/>
                </a:solidFill>
              </a:rPr>
              <a:t>▪ validate_plan is still the bill — 66% of no-tools.  </a:t>
            </a:r>
            <a:r>
              <a:rPr sz="1050">
                <a:solidFill>
                  <a:srgbClr val="555555"/>
                </a:solidFill>
              </a:rPr>
              <a:t>$25.6 of $39. 10 plan fixtures (5 buggy + 5 valid) × 100 problems × 3 variants = 3,000 of 4,560 trials.</a:t>
            </a:r>
          </a:p>
          <a:p>
            <a:pPr>
              <a:spcBef>
                <a:spcPts val="700"/>
              </a:spcBef>
            </a:pPr>
            <a:r>
              <a:rPr sz="1050" b="1">
                <a:solidFill>
                  <a:srgbClr val="1F3050"/>
                </a:solidFill>
              </a:rPr>
              <a:t>▪ With-tools input is 8–80× the no-tools input.  </a:t>
            </a:r>
            <a:r>
              <a:rPr sz="1050">
                <a:solidFill>
                  <a:srgbClr val="555555"/>
                </a:solidFill>
              </a:rPr>
              <a:t>the loop re-bills domain + 3.6k-tok schema + history every turn — and it is MODEL-SPECIFIC: Haiku loops to 50k on solve (Sonnet 19k); Sonnet pulls 141k on simulate (Haiku 78k, then overflows its 200K context).</a:t>
            </a:r>
          </a:p>
          <a:p>
            <a:pPr>
              <a:spcBef>
                <a:spcPts val="700"/>
              </a:spcBef>
            </a:pPr>
            <a:r>
              <a:rPr sz="1050" b="1">
                <a:solidFill>
                  <a:srgbClr val="1F3050"/>
                </a:solidFill>
              </a:rPr>
              <a:t>▪ That model-specificity is why WT projection is ± wide.  </a:t>
            </a:r>
            <a:r>
              <a:rPr sz="1050">
                <a:solidFill>
                  <a:srgbClr val="555555"/>
                </a:solidFill>
              </a:rPr>
              <a:t>no-tools transfers cleanly across models (terse output, small tokens); with-tools does not — flag any un-measured WT number.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327648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i="1">
                <a:solidFill>
                  <a:srgbClr val="555555"/>
                </a:solidFill>
              </a:rPr>
              <a:t>NT $ measured (canonical corpus; anon +~8%, both = $81.51). WT $ = plain-only (4,560) projection from the 75-trial probe — validate_plan n=49 solid, other cells n=6–8 (directional). Tokens cumulative across the agent loop; Haiku simulate averaged over attempts incl. 1 ctx-overflow.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050"/>
                </a:solidFill>
              </a:rPr>
              <a:t>Cross-Provider Single-Tool Cost — One Corpus, think-off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58368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55555"/>
                </a:solidFill>
              </a:rPr>
              <a:t>● measured (own Claude-API tokens)   ○ projected (re-price the mean measured token profile).  Plain variants · no-tools = Batch −50% · with-tools = LIST (no batch, no caching).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70432"/>
          <a:ext cx="882396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2468880"/>
                <a:gridCol w="1280160"/>
                <a:gridCol w="1417320"/>
                <a:gridCol w="1325880"/>
                <a:gridCol w="1371600"/>
              </a:tblGrid>
              <a:tr h="30099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Tier</a:t>
                      </a:r>
                    </a:p>
                  </a:txBody>
                  <a:tcPr marL="54864" marR="54864" marT="18288" marB="18288">
                    <a:solidFill>
                      <a:srgbClr val="3355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marL="54864" marR="54864" marT="18288" marB="18288">
                    <a:solidFill>
                      <a:srgbClr val="3355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Provider</a:t>
                      </a:r>
                    </a:p>
                  </a:txBody>
                  <a:tcPr marL="54864" marR="54864" marT="18288" marB="18288">
                    <a:solidFill>
                      <a:srgbClr val="3355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$/Mtok
in / out</a:t>
                      </a:r>
                    </a:p>
                  </a:txBody>
                  <a:tcPr marL="54864" marR="54864" marT="18288" marB="18288">
                    <a:solidFill>
                      <a:srgbClr val="3355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No-tools
(batch)</a:t>
                      </a:r>
                    </a:p>
                  </a:txBody>
                  <a:tcPr marL="54864" marR="54864" marT="18288" marB="18288">
                    <a:solidFill>
                      <a:srgbClr val="3355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With-tools
(list)</a:t>
                      </a:r>
                    </a:p>
                  </a:txBody>
                  <a:tcPr marL="54864" marR="54864" marT="18288" marB="18288">
                    <a:solidFill>
                      <a:srgbClr val="335588"/>
                    </a:solidFill>
                  </a:tcPr>
                </a:tc>
              </a:tr>
              <a:tr h="30099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335588"/>
                          </a:solidFill>
                        </a:rPr>
                        <a:t>FRONTIER</a:t>
                      </a:r>
                    </a:p>
                  </a:txBody>
                  <a:tcPr marL="54864" marR="54864" marT="18288" marB="18288"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3050"/>
                          </a:solidFill>
                        </a:rPr>
                        <a:t>● Sonnet 4.6</a:t>
                      </a:r>
                    </a:p>
                  </a:txBody>
                  <a:tcPr marL="54864" marR="54864" marT="18288" marB="18288"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55555"/>
                          </a:solidFill>
                        </a:rPr>
                        <a:t>Anthropic</a:t>
                      </a:r>
                    </a:p>
                  </a:txBody>
                  <a:tcPr marL="54864" marR="54864" marT="18288" marB="18288"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</a:rPr>
                        <a:t>$3 / $15</a:t>
                      </a:r>
                    </a:p>
                  </a:txBody>
                  <a:tcPr marL="54864" marR="54864" marT="18288" marB="18288"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3050"/>
                          </a:solidFill>
                        </a:rPr>
                        <a:t>$39</a:t>
                      </a:r>
                    </a:p>
                  </a:txBody>
                  <a:tcPr marL="54864" marR="54864" marT="18288" marB="18288"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F3050"/>
                          </a:solidFill>
                        </a:rPr>
                        <a:t>$449</a:t>
                      </a:r>
                    </a:p>
                  </a:txBody>
                  <a:tcPr marL="54864" marR="54864" marT="18288" marB="18288">
                    <a:solidFill>
                      <a:srgbClr val="E2F0D9"/>
                    </a:solidFill>
                  </a:tcPr>
                </a:tc>
              </a:tr>
              <a:tr h="30099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335588"/>
                          </a:solidFill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050"/>
                          </a:solidFill>
                        </a:rPr>
                        <a:t>○ GPT-5.5</a:t>
                      </a:r>
                    </a:p>
                  </a:txBody>
                  <a:tcPr marL="54864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55555"/>
                          </a:solidFill>
                        </a:rPr>
                        <a:t>OpenAI</a:t>
                      </a:r>
                    </a:p>
                  </a:txBody>
                  <a:tcPr marL="54864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</a:rPr>
                        <a:t>$5 / $30</a:t>
                      </a:r>
                    </a:p>
                  </a:txBody>
                  <a:tcPr marL="54864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3050"/>
                          </a:solidFill>
                        </a:rPr>
                        <a:t>$86</a:t>
                      </a:r>
                    </a:p>
                  </a:txBody>
                  <a:tcPr marL="54864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F3050"/>
                          </a:solidFill>
                        </a:rPr>
                        <a:t>$788</a:t>
                      </a:r>
                    </a:p>
                  </a:txBody>
                  <a:tcPr marL="54864" marR="54864" marT="18288" marB="18288">
                    <a:solidFill>
                      <a:srgbClr val="ECF1F8"/>
                    </a:solidFill>
                  </a:tcPr>
                </a:tc>
              </a:tr>
              <a:tr h="30099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335588"/>
                          </a:solidFill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050"/>
                          </a:solidFill>
                        </a:rPr>
                        <a:t>○ Gemini 3.1 Pro</a:t>
                      </a:r>
                    </a:p>
                  </a:txBody>
                  <a:tcPr marL="54864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55555"/>
                          </a:solidFill>
                        </a:rPr>
                        <a:t>Google</a:t>
                      </a:r>
                    </a:p>
                  </a:txBody>
                  <a:tcPr marL="54864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</a:rPr>
                        <a:t>$2 / $12</a:t>
                      </a:r>
                    </a:p>
                  </a:txBody>
                  <a:tcPr marL="54864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3050"/>
                          </a:solidFill>
                        </a:rPr>
                        <a:t>$34</a:t>
                      </a:r>
                    </a:p>
                  </a:txBody>
                  <a:tcPr marL="54864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F3050"/>
                          </a:solidFill>
                        </a:rPr>
                        <a:t>$315</a:t>
                      </a:r>
                    </a:p>
                  </a:txBody>
                  <a:tcPr marL="54864" marR="54864" marT="18288" marB="18288">
                    <a:solidFill>
                      <a:srgbClr val="ECF1F8"/>
                    </a:solidFill>
                  </a:tcPr>
                </a:tc>
              </a:tr>
              <a:tr h="30099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335588"/>
                          </a:solidFill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050"/>
                          </a:solidFill>
                        </a:rPr>
                        <a:t>○ Qwen3.7-Max</a:t>
                      </a:r>
                    </a:p>
                  </a:txBody>
                  <a:tcPr marL="54864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55555"/>
                          </a:solidFill>
                        </a:rPr>
                        <a:t>Alibaba</a:t>
                      </a:r>
                    </a:p>
                  </a:txBody>
                  <a:tcPr marL="54864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</a:rPr>
                        <a:t>$2.5 / $7.5</a:t>
                      </a:r>
                    </a:p>
                  </a:txBody>
                  <a:tcPr marL="54864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3050"/>
                          </a:solidFill>
                        </a:rPr>
                        <a:t>$26</a:t>
                      </a:r>
                    </a:p>
                  </a:txBody>
                  <a:tcPr marL="54864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F3050"/>
                          </a:solidFill>
                        </a:rPr>
                        <a:t>$321</a:t>
                      </a:r>
                    </a:p>
                  </a:txBody>
                  <a:tcPr marL="54864" marR="54864" marT="18288" marB="18288">
                    <a:solidFill>
                      <a:srgbClr val="ECF1F8"/>
                    </a:solidFill>
                  </a:tcPr>
                </a:tc>
              </a:tr>
              <a:tr h="30099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335588"/>
                          </a:solidFill>
                        </a:rPr>
                        <a:t>MID</a:t>
                      </a:r>
                    </a:p>
                  </a:txBody>
                  <a:tcPr marL="54864" marR="54864" marT="18288" marB="18288"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3050"/>
                          </a:solidFill>
                        </a:rPr>
                        <a:t>● Haiku 4.5</a:t>
                      </a:r>
                    </a:p>
                  </a:txBody>
                  <a:tcPr marL="54864" marR="54864" marT="18288" marB="18288"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55555"/>
                          </a:solidFill>
                        </a:rPr>
                        <a:t>Anthropic</a:t>
                      </a:r>
                    </a:p>
                  </a:txBody>
                  <a:tcPr marL="54864" marR="54864" marT="18288" marB="18288"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</a:rPr>
                        <a:t>$1 / $5</a:t>
                      </a:r>
                    </a:p>
                  </a:txBody>
                  <a:tcPr marL="54864" marR="54864" marT="18288" marB="18288"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3050"/>
                          </a:solidFill>
                        </a:rPr>
                        <a:t>$17</a:t>
                      </a:r>
                    </a:p>
                  </a:txBody>
                  <a:tcPr marL="54864" marR="54864" marT="18288" marB="18288"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F3050"/>
                          </a:solidFill>
                        </a:rPr>
                        <a:t>$146</a:t>
                      </a:r>
                    </a:p>
                  </a:txBody>
                  <a:tcPr marL="54864" marR="54864" marT="18288" marB="18288">
                    <a:solidFill>
                      <a:srgbClr val="E2F0D9"/>
                    </a:solidFill>
                  </a:tcPr>
                </a:tc>
              </a:tr>
              <a:tr h="30099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335588"/>
                          </a:solidFill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6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050"/>
                          </a:solidFill>
                        </a:rPr>
                        <a:t>○ GPT-5.4 Mini</a:t>
                      </a:r>
                    </a:p>
                  </a:txBody>
                  <a:tcPr marL="54864" marR="54864" marT="18288" marB="18288">
                    <a:solidFill>
                      <a:srgbClr val="F6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55555"/>
                          </a:solidFill>
                        </a:rPr>
                        <a:t>OpenAI</a:t>
                      </a:r>
                    </a:p>
                  </a:txBody>
                  <a:tcPr marL="54864" marR="54864" marT="18288" marB="18288">
                    <a:solidFill>
                      <a:srgbClr val="F6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</a:rPr>
                        <a:t>$0.75 / $4.5</a:t>
                      </a:r>
                    </a:p>
                  </a:txBody>
                  <a:tcPr marL="54864" marR="54864" marT="18288" marB="18288">
                    <a:solidFill>
                      <a:srgbClr val="F6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3050"/>
                          </a:solidFill>
                        </a:rPr>
                        <a:t>$13</a:t>
                      </a:r>
                    </a:p>
                  </a:txBody>
                  <a:tcPr marL="54864" marR="54864" marT="18288" marB="18288">
                    <a:solidFill>
                      <a:srgbClr val="F6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F3050"/>
                          </a:solidFill>
                        </a:rPr>
                        <a:t>$118</a:t>
                      </a:r>
                    </a:p>
                  </a:txBody>
                  <a:tcPr marL="54864" marR="54864" marT="18288" marB="18288">
                    <a:solidFill>
                      <a:srgbClr val="F6F2EC"/>
                    </a:solidFill>
                  </a:tcPr>
                </a:tc>
              </a:tr>
              <a:tr h="30099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335588"/>
                          </a:solidFill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6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050"/>
                          </a:solidFill>
                        </a:rPr>
                        <a:t>○ Gemini 2.5 Flash</a:t>
                      </a:r>
                    </a:p>
                  </a:txBody>
                  <a:tcPr marL="54864" marR="54864" marT="18288" marB="18288">
                    <a:solidFill>
                      <a:srgbClr val="F6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55555"/>
                          </a:solidFill>
                        </a:rPr>
                        <a:t>Google</a:t>
                      </a:r>
                    </a:p>
                  </a:txBody>
                  <a:tcPr marL="54864" marR="54864" marT="18288" marB="18288">
                    <a:solidFill>
                      <a:srgbClr val="F6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</a:rPr>
                        <a:t>$0.3 / $2.5</a:t>
                      </a:r>
                    </a:p>
                  </a:txBody>
                  <a:tcPr marL="54864" marR="54864" marT="18288" marB="18288">
                    <a:solidFill>
                      <a:srgbClr val="F6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3050"/>
                          </a:solidFill>
                        </a:rPr>
                        <a:t>$7</a:t>
                      </a:r>
                    </a:p>
                  </a:txBody>
                  <a:tcPr marL="54864" marR="54864" marT="18288" marB="18288">
                    <a:solidFill>
                      <a:srgbClr val="F6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F3050"/>
                          </a:solidFill>
                        </a:rPr>
                        <a:t>$54</a:t>
                      </a:r>
                    </a:p>
                  </a:txBody>
                  <a:tcPr marL="54864" marR="54864" marT="18288" marB="18288">
                    <a:solidFill>
                      <a:srgbClr val="F6F2EC"/>
                    </a:solidFill>
                  </a:tcPr>
                </a:tc>
              </a:tr>
              <a:tr h="30099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335588"/>
                          </a:solidFill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6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050"/>
                          </a:solidFill>
                        </a:rPr>
                        <a:t>○ Qwen-Plus</a:t>
                      </a:r>
                    </a:p>
                  </a:txBody>
                  <a:tcPr marL="54864" marR="54864" marT="18288" marB="18288">
                    <a:solidFill>
                      <a:srgbClr val="F6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55555"/>
                          </a:solidFill>
                        </a:rPr>
                        <a:t>Alibaba</a:t>
                      </a:r>
                    </a:p>
                  </a:txBody>
                  <a:tcPr marL="54864" marR="54864" marT="18288" marB="18288">
                    <a:solidFill>
                      <a:srgbClr val="F6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</a:rPr>
                        <a:t>$0.4 / $1.2</a:t>
                      </a:r>
                    </a:p>
                  </a:txBody>
                  <a:tcPr marL="54864" marR="54864" marT="18288" marB="18288">
                    <a:solidFill>
                      <a:srgbClr val="F6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3050"/>
                          </a:solidFill>
                        </a:rPr>
                        <a:t>$4</a:t>
                      </a:r>
                    </a:p>
                  </a:txBody>
                  <a:tcPr marL="54864" marR="54864" marT="18288" marB="18288">
                    <a:solidFill>
                      <a:srgbClr val="F6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F3050"/>
                          </a:solidFill>
                        </a:rPr>
                        <a:t>$51</a:t>
                      </a:r>
                    </a:p>
                  </a:txBody>
                  <a:tcPr marL="54864" marR="54864" marT="18288" marB="18288">
                    <a:solidFill>
                      <a:srgbClr val="F6F2EC"/>
                    </a:solidFill>
                  </a:tcPr>
                </a:tc>
              </a:tr>
              <a:tr h="30099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335588"/>
                          </a:solidFill>
                        </a:rPr>
                        <a:t>BUDGET</a:t>
                      </a:r>
                    </a:p>
                  </a:txBody>
                  <a:tcPr marL="54864" marR="54864" marT="18288" marB="18288">
                    <a:solidFill>
                      <a:srgbClr val="F1F7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050"/>
                          </a:solidFill>
                        </a:rPr>
                        <a:t>○ GPT-5.4 Nano</a:t>
                      </a:r>
                    </a:p>
                  </a:txBody>
                  <a:tcPr marL="54864" marR="54864" marT="18288" marB="18288">
                    <a:solidFill>
                      <a:srgbClr val="F1F7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55555"/>
                          </a:solidFill>
                        </a:rPr>
                        <a:t>OpenAI</a:t>
                      </a:r>
                    </a:p>
                  </a:txBody>
                  <a:tcPr marL="54864" marR="54864" marT="18288" marB="18288">
                    <a:solidFill>
                      <a:srgbClr val="F1F7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</a:rPr>
                        <a:t>$0.2 / $1.25</a:t>
                      </a:r>
                    </a:p>
                  </a:txBody>
                  <a:tcPr marL="54864" marR="54864" marT="18288" marB="18288">
                    <a:solidFill>
                      <a:srgbClr val="F1F7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3050"/>
                          </a:solidFill>
                        </a:rPr>
                        <a:t>$4</a:t>
                      </a:r>
                    </a:p>
                  </a:txBody>
                  <a:tcPr marL="54864" marR="54864" marT="18288" marB="18288">
                    <a:solidFill>
                      <a:srgbClr val="F1F7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F3050"/>
                          </a:solidFill>
                        </a:rPr>
                        <a:t>$32</a:t>
                      </a:r>
                    </a:p>
                  </a:txBody>
                  <a:tcPr marL="54864" marR="54864" marT="18288" marB="18288">
                    <a:solidFill>
                      <a:srgbClr val="F1F7F1"/>
                    </a:solidFill>
                  </a:tcPr>
                </a:tc>
              </a:tr>
              <a:tr h="30099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335588"/>
                          </a:solidFill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1F7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050"/>
                          </a:solidFill>
                        </a:rPr>
                        <a:t>○ Gemini 2.5 Flash-Lite</a:t>
                      </a:r>
                    </a:p>
                  </a:txBody>
                  <a:tcPr marL="54864" marR="54864" marT="18288" marB="18288">
                    <a:solidFill>
                      <a:srgbClr val="F1F7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55555"/>
                          </a:solidFill>
                        </a:rPr>
                        <a:t>Google</a:t>
                      </a:r>
                    </a:p>
                  </a:txBody>
                  <a:tcPr marL="54864" marR="54864" marT="18288" marB="18288">
                    <a:solidFill>
                      <a:srgbClr val="F1F7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</a:rPr>
                        <a:t>$0.1 / $0.4</a:t>
                      </a:r>
                    </a:p>
                  </a:txBody>
                  <a:tcPr marL="54864" marR="54864" marT="18288" marB="18288">
                    <a:solidFill>
                      <a:srgbClr val="F1F7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3050"/>
                          </a:solidFill>
                        </a:rPr>
                        <a:t>$1</a:t>
                      </a:r>
                    </a:p>
                  </a:txBody>
                  <a:tcPr marL="54864" marR="54864" marT="18288" marB="18288">
                    <a:solidFill>
                      <a:srgbClr val="F1F7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F3050"/>
                          </a:solidFill>
                        </a:rPr>
                        <a:t>$14</a:t>
                      </a:r>
                    </a:p>
                  </a:txBody>
                  <a:tcPr marL="54864" marR="54864" marT="18288" marB="18288">
                    <a:solidFill>
                      <a:srgbClr val="F1F7F1"/>
                    </a:solidFill>
                  </a:tcPr>
                </a:tc>
              </a:tr>
              <a:tr h="30099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335588"/>
                          </a:solidFill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1F7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050"/>
                          </a:solidFill>
                        </a:rPr>
                        <a:t>○ Qwen-Flash</a:t>
                      </a:r>
                    </a:p>
                  </a:txBody>
                  <a:tcPr marL="54864" marR="54864" marT="18288" marB="18288">
                    <a:solidFill>
                      <a:srgbClr val="F1F7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55555"/>
                          </a:solidFill>
                        </a:rPr>
                        <a:t>Alibaba</a:t>
                      </a:r>
                    </a:p>
                  </a:txBody>
                  <a:tcPr marL="54864" marR="54864" marT="18288" marB="18288">
                    <a:solidFill>
                      <a:srgbClr val="F1F7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555555"/>
                          </a:solidFill>
                        </a:rPr>
                        <a:t>$0.05 / $0.4</a:t>
                      </a:r>
                    </a:p>
                  </a:txBody>
                  <a:tcPr marL="54864" marR="54864" marT="18288" marB="18288">
                    <a:solidFill>
                      <a:srgbClr val="F1F7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3050"/>
                          </a:solidFill>
                        </a:rPr>
                        <a:t>$1</a:t>
                      </a:r>
                    </a:p>
                  </a:txBody>
                  <a:tcPr marL="54864" marR="54864" marT="18288" marB="18288">
                    <a:solidFill>
                      <a:srgbClr val="F1F7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F3050"/>
                          </a:solidFill>
                        </a:rPr>
                        <a:t>$9</a:t>
                      </a:r>
                    </a:p>
                  </a:txBody>
                  <a:tcPr marL="54864" marR="54864" marT="18288" marB="18288">
                    <a:solidFill>
                      <a:srgbClr val="F1F7F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4956048"/>
            <a:ext cx="11612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35588"/>
                </a:solidFill>
              </a:rPr>
              <a:t>Read this landscape</a:t>
            </a:r>
          </a:p>
          <a:p>
            <a:pPr>
              <a:spcBef>
                <a:spcPts val="700"/>
              </a:spcBef>
            </a:pPr>
            <a:r>
              <a:rPr sz="1050" b="1">
                <a:solidFill>
                  <a:srgbClr val="1F3050"/>
                </a:solidFill>
              </a:rPr>
              <a:t>▪ Two rows are measured (●), nine are projected (○).  </a:t>
            </a:r>
            <a:r>
              <a:rPr sz="1050">
                <a:solidFill>
                  <a:srgbClr val="555555"/>
                </a:solidFill>
              </a:rPr>
              <a:t>Sonnet/Haiku priced from their OWN tokens; the rest re-price the mean profile — so a same-tier ● vs ○ gap mixes BOTH price and token-profile. Read ○ as a price landscape, not a head-to-head.</a:t>
            </a:r>
          </a:p>
          <a:p>
            <a:pPr>
              <a:spcBef>
                <a:spcPts val="700"/>
              </a:spcBef>
            </a:pPr>
            <a:r>
              <a:rPr sz="1050" b="1">
                <a:solidFill>
                  <a:srgbClr val="1F3050"/>
                </a:solidFill>
              </a:rPr>
              <a:t>▪ No-tools is cheap everywhere ($1–$86); with-tools is where providers separate.  </a:t>
            </a:r>
            <a:r>
              <a:rPr sz="1050">
                <a:solidFill>
                  <a:srgbClr val="555555"/>
                </a:solidFill>
              </a:rPr>
              <a:t>frontier WT $315 (Gemini 3.1 Pro) → $788 (GPT-5.5); budget WT $9 (Qwen-Flash) → $32 (GPT Nano). With-tools can't batch → the prompt-caching lever (≈⅔ of the $ is repeated prefix) is the only cut.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327648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i="1">
                <a:solidFill>
                  <a:srgbClr val="555555"/>
                </a:solidFill>
              </a:rPr>
              <a:t>Prices: list, Jun 2026 — Anthropic (claude-api skill), Google/OpenAI/Alibaba (vendor docs); re-verify in-console (Qwen-Max list $2.5/$7.5 is on a 50% promo to $1.25/$3.75). WT is ± wide for ○ rows: the two measured models differ up to 2.7× per task. Qwen runs FREE on SLURM.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3050"/>
                </a:solidFill>
              </a:rPr>
              <a:t>PlanBench — the With-Tools Budget-Buster; Keep It on vLLM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58368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55555"/>
                </a:solidFill>
              </a:rPr>
              <a:t>API-cost projection, think-off, one corpus-equiv (7,000 instances/cell), calibrated from the sweep5 anchors (NT ×0.54, WT ×1.59).  ● measured-token basis  ○ projected.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827532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2697480"/>
                <a:gridCol w="1417320"/>
                <a:gridCol w="1600200"/>
                <a:gridCol w="1600200"/>
              </a:tblGrid>
              <a:tr h="30099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Tier</a:t>
                      </a:r>
                    </a:p>
                  </a:txBody>
                  <a:tcPr marL="54864" marR="54864" marT="18288" marB="18288">
                    <a:solidFill>
                      <a:srgbClr val="3355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marL="54864" marR="54864" marT="18288" marB="18288">
                    <a:solidFill>
                      <a:srgbClr val="3355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Provider</a:t>
                      </a:r>
                    </a:p>
                  </a:txBody>
                  <a:tcPr marL="54864" marR="54864" marT="18288" marB="18288">
                    <a:solidFill>
                      <a:srgbClr val="3355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No-tools
(×0.54)</a:t>
                      </a:r>
                    </a:p>
                  </a:txBody>
                  <a:tcPr marL="54864" marR="54864" marT="18288" marB="18288">
                    <a:solidFill>
                      <a:srgbClr val="3355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With-tools
(×1.59)</a:t>
                      </a:r>
                    </a:p>
                  </a:txBody>
                  <a:tcPr marL="54864" marR="54864" marT="18288" marB="18288">
                    <a:solidFill>
                      <a:srgbClr val="335588"/>
                    </a:solidFill>
                  </a:tcPr>
                </a:tc>
              </a:tr>
              <a:tr h="30099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335588"/>
                          </a:solidFill>
                        </a:rPr>
                        <a:t>FRONTIER</a:t>
                      </a:r>
                    </a:p>
                  </a:txBody>
                  <a:tcPr marL="54864" marR="54864" marT="18288" marB="18288"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3050"/>
                          </a:solidFill>
                        </a:rPr>
                        <a:t>● Sonnet 4.6</a:t>
                      </a:r>
                    </a:p>
                  </a:txBody>
                  <a:tcPr marL="54864" marR="54864" marT="18288" marB="18288"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55555"/>
                          </a:solidFill>
                        </a:rPr>
                        <a:t>Anthropic</a:t>
                      </a:r>
                    </a:p>
                  </a:txBody>
                  <a:tcPr marL="54864" marR="54864" marT="18288" marB="18288"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3050"/>
                          </a:solidFill>
                        </a:rPr>
                        <a:t>$66</a:t>
                      </a:r>
                    </a:p>
                  </a:txBody>
                  <a:tcPr marL="54864" marR="54864" marT="18288" marB="18288"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A03030"/>
                          </a:solidFill>
                        </a:rPr>
                        <a:t>$673</a:t>
                      </a:r>
                    </a:p>
                  </a:txBody>
                  <a:tcPr marL="54864" marR="54864" marT="18288" marB="18288">
                    <a:solidFill>
                      <a:srgbClr val="E2F0D9"/>
                    </a:solidFill>
                  </a:tcPr>
                </a:tc>
              </a:tr>
              <a:tr h="30099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335588"/>
                          </a:solidFill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B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050"/>
                          </a:solidFill>
                        </a:rPr>
                        <a:t>○ GPT-5.5</a:t>
                      </a:r>
                    </a:p>
                  </a:txBody>
                  <a:tcPr marL="54864" marR="54864" marT="18288" marB="18288">
                    <a:solidFill>
                      <a:srgbClr val="FB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55555"/>
                          </a:solidFill>
                        </a:rPr>
                        <a:t>OpenAI</a:t>
                      </a:r>
                    </a:p>
                  </a:txBody>
                  <a:tcPr marL="54864" marR="54864" marT="18288" marB="18288">
                    <a:solidFill>
                      <a:srgbClr val="FB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3050"/>
                          </a:solidFill>
                        </a:rPr>
                        <a:t>$129</a:t>
                      </a:r>
                    </a:p>
                  </a:txBody>
                  <a:tcPr marL="54864" marR="54864" marT="18288" marB="18288">
                    <a:solidFill>
                      <a:srgbClr val="FB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A03030"/>
                          </a:solidFill>
                        </a:rPr>
                        <a:t>$1,204</a:t>
                      </a:r>
                    </a:p>
                  </a:txBody>
                  <a:tcPr marL="54864" marR="54864" marT="18288" marB="18288">
                    <a:solidFill>
                      <a:srgbClr val="FBEEEE"/>
                    </a:solidFill>
                  </a:tcPr>
                </a:tc>
              </a:tr>
              <a:tr h="30099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335588"/>
                          </a:solidFill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050"/>
                          </a:solidFill>
                        </a:rPr>
                        <a:t>○ Gemini 3.1 Pro</a:t>
                      </a:r>
                    </a:p>
                  </a:txBody>
                  <a:tcPr marL="54864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55555"/>
                          </a:solidFill>
                        </a:rPr>
                        <a:t>Google</a:t>
                      </a:r>
                    </a:p>
                  </a:txBody>
                  <a:tcPr marL="54864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3050"/>
                          </a:solidFill>
                        </a:rPr>
                        <a:t>$52</a:t>
                      </a:r>
                    </a:p>
                  </a:txBody>
                  <a:tcPr marL="54864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A03030"/>
                          </a:solidFill>
                        </a:rPr>
                        <a:t>$481</a:t>
                      </a:r>
                    </a:p>
                  </a:txBody>
                  <a:tcPr marL="54864" marR="54864" marT="18288" marB="18288">
                    <a:solidFill>
                      <a:srgbClr val="ECF1F8"/>
                    </a:solidFill>
                  </a:tcPr>
                </a:tc>
              </a:tr>
              <a:tr h="30099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335588"/>
                          </a:solidFill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050"/>
                          </a:solidFill>
                        </a:rPr>
                        <a:t>○ Qwen3.7-Max</a:t>
                      </a:r>
                    </a:p>
                  </a:txBody>
                  <a:tcPr marL="54864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55555"/>
                          </a:solidFill>
                        </a:rPr>
                        <a:t>Alibaba</a:t>
                      </a:r>
                    </a:p>
                  </a:txBody>
                  <a:tcPr marL="54864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3050"/>
                          </a:solidFill>
                        </a:rPr>
                        <a:t>$66</a:t>
                      </a:r>
                    </a:p>
                  </a:txBody>
                  <a:tcPr marL="54864" marR="54864" marT="18288" marB="18288">
                    <a:solidFill>
                      <a:srgbClr val="EC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A03030"/>
                          </a:solidFill>
                        </a:rPr>
                        <a:t>$478</a:t>
                      </a:r>
                    </a:p>
                  </a:txBody>
                  <a:tcPr marL="54864" marR="54864" marT="18288" marB="18288">
                    <a:solidFill>
                      <a:srgbClr val="ECF1F8"/>
                    </a:solidFill>
                  </a:tcPr>
                </a:tc>
              </a:tr>
              <a:tr h="30099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335588"/>
                          </a:solidFill>
                        </a:rPr>
                        <a:t>MID</a:t>
                      </a:r>
                    </a:p>
                  </a:txBody>
                  <a:tcPr marL="54864" marR="54864" marT="18288" marB="18288"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3050"/>
                          </a:solidFill>
                        </a:rPr>
                        <a:t>● Haiku 4.5</a:t>
                      </a:r>
                    </a:p>
                  </a:txBody>
                  <a:tcPr marL="54864" marR="54864" marT="18288" marB="18288"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55555"/>
                          </a:solidFill>
                        </a:rPr>
                        <a:t>Anthropic</a:t>
                      </a:r>
                    </a:p>
                  </a:txBody>
                  <a:tcPr marL="54864" marR="54864" marT="18288" marB="18288"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3050"/>
                          </a:solidFill>
                        </a:rPr>
                        <a:t>$22</a:t>
                      </a:r>
                    </a:p>
                  </a:txBody>
                  <a:tcPr marL="54864" marR="54864" marT="18288" marB="18288">
                    <a:solidFill>
                      <a:srgbClr val="E2F0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F3050"/>
                          </a:solidFill>
                        </a:rPr>
                        <a:t>$224</a:t>
                      </a:r>
                    </a:p>
                  </a:txBody>
                  <a:tcPr marL="54864" marR="54864" marT="18288" marB="18288">
                    <a:solidFill>
                      <a:srgbClr val="E2F0D9"/>
                    </a:solidFill>
                  </a:tcPr>
                </a:tc>
              </a:tr>
              <a:tr h="30099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335588"/>
                          </a:solidFill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6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050"/>
                          </a:solidFill>
                        </a:rPr>
                        <a:t>○ GPT-5.4 Mini</a:t>
                      </a:r>
                    </a:p>
                  </a:txBody>
                  <a:tcPr marL="54864" marR="54864" marT="18288" marB="18288">
                    <a:solidFill>
                      <a:srgbClr val="F6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55555"/>
                          </a:solidFill>
                        </a:rPr>
                        <a:t>OpenAI</a:t>
                      </a:r>
                    </a:p>
                  </a:txBody>
                  <a:tcPr marL="54864" marR="54864" marT="18288" marB="18288">
                    <a:solidFill>
                      <a:srgbClr val="F6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3050"/>
                          </a:solidFill>
                        </a:rPr>
                        <a:t>$19</a:t>
                      </a:r>
                    </a:p>
                  </a:txBody>
                  <a:tcPr marL="54864" marR="54864" marT="18288" marB="18288">
                    <a:solidFill>
                      <a:srgbClr val="F6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F3050"/>
                          </a:solidFill>
                        </a:rPr>
                        <a:t>$181</a:t>
                      </a:r>
                    </a:p>
                  </a:txBody>
                  <a:tcPr marL="54864" marR="54864" marT="18288" marB="18288">
                    <a:solidFill>
                      <a:srgbClr val="F6F2EC"/>
                    </a:solidFill>
                  </a:tcPr>
                </a:tc>
              </a:tr>
              <a:tr h="30099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335588"/>
                          </a:solidFill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6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050"/>
                          </a:solidFill>
                        </a:rPr>
                        <a:t>○ Gemini 2.5 Flash</a:t>
                      </a:r>
                    </a:p>
                  </a:txBody>
                  <a:tcPr marL="54864" marR="54864" marT="18288" marB="18288">
                    <a:solidFill>
                      <a:srgbClr val="F6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55555"/>
                          </a:solidFill>
                        </a:rPr>
                        <a:t>Google</a:t>
                      </a:r>
                    </a:p>
                  </a:txBody>
                  <a:tcPr marL="54864" marR="54864" marT="18288" marB="18288">
                    <a:solidFill>
                      <a:srgbClr val="F6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3050"/>
                          </a:solidFill>
                        </a:rPr>
                        <a:t>$10</a:t>
                      </a:r>
                    </a:p>
                  </a:txBody>
                  <a:tcPr marL="54864" marR="54864" marT="18288" marB="18288">
                    <a:solidFill>
                      <a:srgbClr val="F6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F3050"/>
                          </a:solidFill>
                        </a:rPr>
                        <a:t>$84</a:t>
                      </a:r>
                    </a:p>
                  </a:txBody>
                  <a:tcPr marL="54864" marR="54864" marT="18288" marB="18288">
                    <a:solidFill>
                      <a:srgbClr val="F6F2EC"/>
                    </a:solidFill>
                  </a:tcPr>
                </a:tc>
              </a:tr>
              <a:tr h="30099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335588"/>
                          </a:solidFill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6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050"/>
                          </a:solidFill>
                        </a:rPr>
                        <a:t>○ Qwen-Plus</a:t>
                      </a:r>
                    </a:p>
                  </a:txBody>
                  <a:tcPr marL="54864" marR="54864" marT="18288" marB="18288">
                    <a:solidFill>
                      <a:srgbClr val="F6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55555"/>
                          </a:solidFill>
                        </a:rPr>
                        <a:t>Alibaba</a:t>
                      </a:r>
                    </a:p>
                  </a:txBody>
                  <a:tcPr marL="54864" marR="54864" marT="18288" marB="18288">
                    <a:solidFill>
                      <a:srgbClr val="F6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3050"/>
                          </a:solidFill>
                        </a:rPr>
                        <a:t>$11</a:t>
                      </a:r>
                    </a:p>
                  </a:txBody>
                  <a:tcPr marL="54864" marR="54864" marT="18288" marB="18288">
                    <a:solidFill>
                      <a:srgbClr val="F6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F3050"/>
                          </a:solidFill>
                        </a:rPr>
                        <a:t>$76</a:t>
                      </a:r>
                    </a:p>
                  </a:txBody>
                  <a:tcPr marL="54864" marR="54864" marT="18288" marB="18288">
                    <a:solidFill>
                      <a:srgbClr val="F6F2EC"/>
                    </a:solidFill>
                  </a:tcPr>
                </a:tc>
              </a:tr>
              <a:tr h="30099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335588"/>
                          </a:solidFill>
                        </a:rPr>
                        <a:t>BUDGET</a:t>
                      </a:r>
                    </a:p>
                  </a:txBody>
                  <a:tcPr marL="54864" marR="54864" marT="18288" marB="18288">
                    <a:solidFill>
                      <a:srgbClr val="F1F7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050"/>
                          </a:solidFill>
                        </a:rPr>
                        <a:t>○ GPT-5.4 Nano</a:t>
                      </a:r>
                    </a:p>
                  </a:txBody>
                  <a:tcPr marL="54864" marR="54864" marT="18288" marB="18288">
                    <a:solidFill>
                      <a:srgbClr val="F1F7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55555"/>
                          </a:solidFill>
                        </a:rPr>
                        <a:t>OpenAI</a:t>
                      </a:r>
                    </a:p>
                  </a:txBody>
                  <a:tcPr marL="54864" marR="54864" marT="18288" marB="18288">
                    <a:solidFill>
                      <a:srgbClr val="F1F7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3050"/>
                          </a:solidFill>
                        </a:rPr>
                        <a:t>$5</a:t>
                      </a:r>
                    </a:p>
                  </a:txBody>
                  <a:tcPr marL="54864" marR="54864" marT="18288" marB="18288">
                    <a:solidFill>
                      <a:srgbClr val="F1F7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F3050"/>
                          </a:solidFill>
                        </a:rPr>
                        <a:t>$49</a:t>
                      </a:r>
                    </a:p>
                  </a:txBody>
                  <a:tcPr marL="54864" marR="54864" marT="18288" marB="18288">
                    <a:solidFill>
                      <a:srgbClr val="F1F7F1"/>
                    </a:solidFill>
                  </a:tcPr>
                </a:tc>
              </a:tr>
              <a:tr h="30099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335588"/>
                          </a:solidFill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1F7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050"/>
                          </a:solidFill>
                        </a:rPr>
                        <a:t>○ Gemini 2.5 Flash-Lite</a:t>
                      </a:r>
                    </a:p>
                  </a:txBody>
                  <a:tcPr marL="54864" marR="54864" marT="18288" marB="18288">
                    <a:solidFill>
                      <a:srgbClr val="F1F7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55555"/>
                          </a:solidFill>
                        </a:rPr>
                        <a:t>Google</a:t>
                      </a:r>
                    </a:p>
                  </a:txBody>
                  <a:tcPr marL="54864" marR="54864" marT="18288" marB="18288">
                    <a:solidFill>
                      <a:srgbClr val="F1F7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3050"/>
                          </a:solidFill>
                        </a:rPr>
                        <a:t>$2</a:t>
                      </a:r>
                    </a:p>
                  </a:txBody>
                  <a:tcPr marL="54864" marR="54864" marT="18288" marB="18288">
                    <a:solidFill>
                      <a:srgbClr val="F1F7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F3050"/>
                          </a:solidFill>
                        </a:rPr>
                        <a:t>$21</a:t>
                      </a:r>
                    </a:p>
                  </a:txBody>
                  <a:tcPr marL="54864" marR="54864" marT="18288" marB="18288">
                    <a:solidFill>
                      <a:srgbClr val="F1F7F1"/>
                    </a:solidFill>
                  </a:tcPr>
                </a:tc>
              </a:tr>
              <a:tr h="30099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335588"/>
                          </a:solidFill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1F7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3050"/>
                          </a:solidFill>
                        </a:rPr>
                        <a:t>○ Qwen-Flash</a:t>
                      </a:r>
                    </a:p>
                  </a:txBody>
                  <a:tcPr marL="54864" marR="54864" marT="18288" marB="18288">
                    <a:solidFill>
                      <a:srgbClr val="F1F7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55555"/>
                          </a:solidFill>
                        </a:rPr>
                        <a:t>Alibaba</a:t>
                      </a:r>
                    </a:p>
                  </a:txBody>
                  <a:tcPr marL="54864" marR="54864" marT="18288" marB="18288">
                    <a:solidFill>
                      <a:srgbClr val="F1F7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3050"/>
                          </a:solidFill>
                        </a:rPr>
                        <a:t>$3</a:t>
                      </a:r>
                    </a:p>
                  </a:txBody>
                  <a:tcPr marL="54864" marR="54864" marT="18288" marB="18288">
                    <a:solidFill>
                      <a:srgbClr val="F1F7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F3050"/>
                          </a:solidFill>
                        </a:rPr>
                        <a:t>$14</a:t>
                      </a:r>
                    </a:p>
                  </a:txBody>
                  <a:tcPr marL="54864" marR="54864" marT="18288" marB="18288">
                    <a:solidFill>
                      <a:srgbClr val="F1F7F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4983480"/>
            <a:ext cx="11612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35588"/>
                </a:solidFill>
              </a:rPr>
              <a:t>What this means</a:t>
            </a:r>
          </a:p>
          <a:p>
            <a:pPr>
              <a:spcBef>
                <a:spcPts val="700"/>
              </a:spcBef>
            </a:pPr>
            <a:r>
              <a:rPr sz="1050" b="1">
                <a:solidFill>
                  <a:srgbClr val="1F3050"/>
                </a:solidFill>
              </a:rPr>
              <a:t>▪ API PlanBench with-tools is the budget-buster.  </a:t>
            </a:r>
            <a:r>
              <a:rPr sz="1050">
                <a:solidFill>
                  <a:srgbClr val="555555"/>
                </a:solidFill>
              </a:rPr>
              <a:t>$14 (Qwen-Flash) → $673 (Sonnet) → $1,204 (GPT-5.5) per corpus-equiv — 7,000 instances × the tool-loop input blowup. It already runs FREE on SLURM (open-weights vLLM), so sample a few hundred API instances at most, never the full 7,000.</a:t>
            </a:r>
          </a:p>
          <a:p>
            <a:pPr>
              <a:spcBef>
                <a:spcPts val="700"/>
              </a:spcBef>
            </a:pPr>
            <a:r>
              <a:rPr sz="1050" b="1">
                <a:solidFill>
                  <a:srgbClr val="1F3050"/>
                </a:solidFill>
              </a:rPr>
              <a:t>▪ Levers (model-independent):  </a:t>
            </a:r>
            <a:r>
              <a:rPr sz="1050">
                <a:solidFill>
                  <a:srgbClr val="555555"/>
                </a:solidFill>
              </a:rPr>
              <a:t>drop think-on (biggest, but frontier think-on is UNMEASURED) · with-tools wordings 6→2 (−52%) · halve domains (−50%) · validate_plan 10→4 (−40%). Cut the repeats, keep the spread.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327648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i="1">
                <a:solidFill>
                  <a:srgbClr val="555555"/>
                </a:solidFill>
              </a:rPr>
              <a:t>Calibration transferred from the sweep5 think-off anchors — direction solid (same token structure), magnitudes ±30%. PlanBench tokens were NOT measured on the API; ○ rows also carry the ±-wide with-tools token uncertainty. Flag any instance sampling in the writeup.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